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86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2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10881360" cy="41148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Lifelong Multi-Agent Pickup-and-Delivery</a:t>
            </a:r>
            <a:endParaRPr sz="1300" b="0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Explainable Fleet Concurrency Control
in a Meeting-based Hybrid Stack</a:t>
            </a:r>
            <a:endParaRPr sz="24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Meeting-RH × Geometry-gated Protocols × StageNet × FACN</a:t>
            </a:r>
            <a:endParaRPr sz="13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Technical talk · ~12 minutes</a:t>
            </a:r>
            <a:endParaRPr sz="12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Outline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Problem → Related Work → Method → Details → Results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9875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§1</a:t>
            </a:r>
            <a:endParaRPr sz="14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93268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Problem &amp; Value</a:t>
            </a:r>
            <a:endParaRPr sz="13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37760" y="98755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Rules, VALID criteria, hardness</a:t>
            </a:r>
            <a:endParaRPr sz="11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0078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§2</a:t>
            </a:r>
            <a:endParaRPr sz="14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54480" y="1645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Prior Work</a:t>
            </a:r>
            <a:endParaRPr sz="13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937760" y="170078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CBS/ECBS, PP, PIBT, MAPD, RHCR</a:t>
            </a:r>
            <a:endParaRPr sz="11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65760" y="2249424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1401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§3</a:t>
            </a:r>
            <a:endParaRPr sz="14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554480" y="23591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Our Method</a:t>
            </a:r>
            <a:endParaRPr sz="13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37760" y="2414016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Contributions &amp; overview</a:t>
            </a:r>
            <a:endParaRPr sz="11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5760" y="2962656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2724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§4.1</a:t>
            </a:r>
            <a:endParaRPr sz="14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554480" y="30723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Meeting</a:t>
            </a:r>
            <a:endParaRPr sz="13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37760" y="3127248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Trigger → I/O → process → return</a:t>
            </a:r>
            <a:endParaRPr sz="11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65760" y="3675888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40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§4.2</a:t>
            </a:r>
            <a:endParaRPr sz="14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554480" y="37856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Protocol Stack</a:t>
            </a:r>
            <a:endParaRPr sz="13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37760" y="384048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Failure mode → tool</a:t>
            </a:r>
            <a:endParaRPr sz="11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65760" y="4389120"/>
            <a:ext cx="11460175" cy="640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537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§4.3</a:t>
            </a:r>
            <a:endParaRPr sz="14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54480" y="449884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AI Modules</a:t>
            </a:r>
            <a:endParaRPr sz="13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7760" y="4553712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StageNet / FACN: arch, I/O, ablation</a:t>
            </a:r>
            <a:endParaRPr sz="11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365760" y="5102352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669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§5</a:t>
            </a:r>
            <a:endParaRPr sz="14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554480" y="52120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Results</a:t>
            </a:r>
            <a:endParaRPr sz="13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37760" y="5266944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done · sim · wall; why best</a:t>
            </a:r>
            <a:endParaRPr sz="11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§1 Problem and Value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MAPD: continuous pickup–delivery under collision constraints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Definition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on a shared grid G=(V,E), AGVs continuously receive pickup→delivery tasks; allocate and plan online for high throughput without conflicts.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vs one-shot MAPF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goals keep changing; a single offline plan is insufficient — periodic re-coordination is mandatory.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Value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warehouses mix open floors and capacity-1 corridors; static parameters and purely reactive policies fail across regimes.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Research question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under limited online compute, which slow variables (pose, priority, concurrency) and which periods keep completion high and wall-clock practical?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Stance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protocols for correctness; small auditable nets for adaptation; geometry gates for trust.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3/29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1810" y="2601595"/>
            <a:ext cx="4051300" cy="375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Operating Rules and VALID Criteria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All hard constraints must hold; otherwise the trajectory is invalid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Class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Rule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Check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Kinematics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4-connected; turns∈{±90°,180°}; move/turn/load/unload/wait = 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Legal actions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Capacity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One package/agent; FIFO at pickup; ≤1 pickup/station/sec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Task semantics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Delivery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Unload only at designated adjacent cells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Correct goal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Vertex conflict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Two agents same cell same time → illegal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VALID=false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Swap conflict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Opposite edge swap → illegal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VALID=false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Bounds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Obstacle/out-of-map → illegal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VALID=false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Quality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done = correct deliveries; full100 = all tasks done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Primary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Efficiency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sim = finish time; wall = runtime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Secondary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532120"/>
            <a:ext cx="11460175" cy="64008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All comparisons require VALID; a smaller sim on an invalid trajectory does not count as better.</a:t>
            </a:r>
            <a:endParaRPr sz="11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4/29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Hardness: Why a Hybrid Stack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Throughput, validity, heterogeneous geometry, online compute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Capacity-1 corridors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same-destination / deg≤2 throats create structural head-ons.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Heterogeneous maps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open large fleets need higher concurrency; dense mazes need throttling — one static K fails.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Lifelong streams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dual timescales — slow vars negotiated periodically; fast conflicts repaired every tick.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Complete search is costly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windowed ECBS completes but costs hundreds of seconds; PIBT is fast but fragile.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Explainability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black-box policies cannot audit who enters a corridor and how many agents may stay busy.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5/29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SH17_gcm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077075" y="2400300"/>
            <a:ext cx="3716020" cy="3880485"/>
          </a:xfrm>
          <a:prstGeom prst="rect">
            <a:avLst/>
          </a:prstGeom>
        </p:spPr>
      </p:pic>
      <p:pic>
        <p:nvPicPr>
          <p:cNvPr id="11" name="SH02_gcm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86180" y="2433955"/>
            <a:ext cx="3835400" cy="37839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§2 Related Work (I): Classical MAPF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Citations and one-line mechanisms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Method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Reference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Idea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Limit (for us)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CBS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Sharon et al., AIJ 2015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High-level conflict split + low-level A*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One-shot; lifelong needs repeats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ECBS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Barer et al., SoCS 2014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Focal-search bounded-suboptimal CBS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High completion, heavy wall-clock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Priority Planning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Classical PP / CA*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Serial space-time A* by priority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Bad priorities → deadlock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PIBT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Okumura et al., AIJ 2022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Priority inheritance + backtracking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Scalable but fragile in corridors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03520"/>
            <a:ext cx="11460175" cy="777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48640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Our baselines: M0=space-time A*+greedy assign; PP=priority A*; ECBS=windowed ECBS.</a:t>
            </a:r>
            <a:endParaRPr sz="1100" b="0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6/29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§2 Related Work (II): Lifelong / MAPD and Gaps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From task streams to rolling horizons — table + how gaps drive our design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Method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Reference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Idea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Gap for us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MAPD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 et al., AAAI 2017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Coupled assign + routing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 learned operational concurrency K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RHCR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Li et al., AAAI 2021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Replan every h; resolve in window w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Still costly; no pose/K learning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exRHCR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Madar et al., SoCS 2022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Warm-start priorities in PBS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Faster search ≠ how-many-busy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Hier(M0↔ECBS)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Our baseline stack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M0 easy / ECBS hard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High full100, wall 700–1000s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432435" y="4674235"/>
            <a:ext cx="11460480" cy="1661160"/>
            <a:chOff x="576" y="6696"/>
            <a:chExt cx="18048" cy="2616"/>
          </a:xfrm>
        </p:grpSpPr>
        <p:sp>
          <p:nvSpPr>
            <p:cNvPr id="8" name="Rectangle 7"/>
            <p:cNvSpPr/>
            <p:nvPr/>
          </p:nvSpPr>
          <p:spPr>
            <a:xfrm>
              <a:off x="576" y="6696"/>
              <a:ext cx="18048" cy="2616"/>
            </a:xfrm>
            <a:prstGeom prst="rect">
              <a:avLst/>
            </a:prstGeom>
            <a:solidFill>
              <a:srgbClr val="EBF4FF"/>
            </a:solidFill>
            <a:ln w="9525">
              <a:solidFill>
                <a:srgbClr val="CBD5E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2" y="6840"/>
              <a:ext cx="17616" cy="2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300"/>
                </a:spcAft>
              </a:pPr>
              <a:r>
                <a:rPr sz="1600" b="1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• Gap → design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: 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Aft>
                  <a:spcPts val="300"/>
                </a:spcAft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(i) reactive fragile → contracts+protocols; 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Aft>
                  <a:spcPts val="300"/>
                </a:spcAft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(ii) slow </a:t>
              </a:r>
              <a:r>
                <a:rPr sz="160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search</a:t>
              </a:r>
              <a:r>
                <a:rPr lang="en-US" sz="160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 problem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→ </a:t>
              </a:r>
              <a:r>
                <a:rPr lang="en-US"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windowed search, 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meet on slow vars only; 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Aft>
                  <a:spcPts val="300"/>
                </a:spcAft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(iii) </a:t>
              </a:r>
              <a:r>
                <a:rPr lang="en-US"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stage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 vs throttle not split → StageNet=</a:t>
              </a:r>
              <a:r>
                <a:rPr lang="en-US"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stage</a:t>
              </a: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, FACN=K only (not which agent); 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>
                <a:spcAft>
                  <a:spcPts val="300"/>
                </a:spcAft>
              </a:pPr>
              <a:r>
                <a:rPr sz="1600" b="0">
                  <a:solidFill>
                    <a:srgbClr val="1E293B"/>
                  </a:solidFill>
                  <a:latin typeface="微软雅黑" panose="020B0503020204020204" charset="-122"/>
                  <a:ea typeface="微软雅黑" panose="020B0503020204020204" charset="-122"/>
                </a:rPr>
                <a:t>(iv) no explainable failure tools → geometry-gated ASA/TBC/corridor/PGFA.</a:t>
              </a:r>
              <a:endPara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7/29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§3 Method and Contributions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Meeting-RH hybrid: protocols for VALID; small nets for adaptation; ablatable boundaries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365760" y="822960"/>
            <a:ext cx="5623560" cy="21945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502920" y="932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C1 Dual timescales</a:t>
            </a:r>
            <a:endParaRPr sz="13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502920" y="1280160"/>
            <a:ext cx="530352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Slow: MEET_H=12 negotiates pose/priority/commits (W∈{16,28}); StageContract ttl=16.
Fast: Follow contracts; Gap yield; PGFA single-focal altruism.
vs RHCR: we explicitly factor what must be negotiated, not full conflict resolution every step.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6172200" y="822960"/>
            <a:ext cx="5623560" cy="21945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6309360" y="93268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C2 FACN throttle</a:t>
            </a:r>
            <a:endParaRPr sz="13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6309360" y="1280160"/>
            <a:ext cx="5303520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Learn Δ∈{−2..+4}, K=clip(K_TBC+Δ); claim valve only — BFS costs untouched.
Controls how-many-busy, not which agents (assignment/priority chooses who).
AFA gates thrash; raise K on open maps, throttle when dense.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365760" y="3154680"/>
            <a:ext cx="5623560" cy="21945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502920" y="3264408"/>
            <a:ext cx="530352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C3 StageNet </a:t>
            </a:r>
            <a:r>
              <a:rPr lang="en-US" sz="13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stage</a:t>
            </a:r>
            <a:endParaRPr lang="en-US" sz="13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502920" y="3611880"/>
            <a:ext cx="530352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Score FINAL/APPROACH/CLEAR + scalar priority; trained by IL.
ASA switches net↔teacher via (n, near_pad_deg2).
Ablation: hard maps collapse without StageNet (e.g., SH10/SH17).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10"/>
            </p:custDataLst>
          </p:nvPr>
        </p:nvSpPr>
        <p:spPr>
          <a:xfrm>
            <a:off x="6172200" y="3154680"/>
            <a:ext cx="5623560" cy="21945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6309360" y="32644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C4 Geometry-gated protocols</a:t>
            </a:r>
            <a:endParaRPr sz="13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6309360" y="3611880"/>
            <a:ext cx="530352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Contested-dest / Pad-egress / FG-CEBI / E4 / Progress-pulse / PGFA…
Each tool maps to a reproduced failure (pad head-on, post-unload throat, mutual yield…).
No map-id: gates use geometry/state only.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5623560"/>
            <a:ext cx="114601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Non-goals: end-to-end black-box step policies; map-id hardcoding; direction fields as the main lever.</a:t>
            </a:r>
            <a:endParaRPr sz="1000" b="1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8/29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Method Overview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Layers: geometry gates → Meeting-RH → tick execution; FACN feedback on K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overview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9/29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Design: Decouple · Gate · Dual Timescale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Each module maps to a named failure — no giant catch-all net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36576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548640" y="1051560"/>
            <a:ext cx="32918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Decouple</a:t>
            </a:r>
            <a:endParaRPr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548640" y="1645920"/>
            <a:ext cx="329184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StageNet=</a:t>
            </a:r>
            <a:r>
              <a:rPr lang="en-US"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stage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; FACN=throttle; PGCP=corridor lights. Wrong </a:t>
            </a:r>
            <a:r>
              <a:rPr lang="en-US"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stage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≠ wrong concurrency — learn and ablate separately.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420624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389120" y="1051560"/>
            <a:ext cx="32918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Gate</a:t>
            </a:r>
            <a:endParaRPr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389120" y="1645920"/>
            <a:ext cx="329184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ASA trusts StageNet; AFA allows Δ ≠ 0; FG-CEBI/E4 only under geometry. Trust is auditable.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8046720" y="822960"/>
            <a:ext cx="3703320" cy="502920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229600" y="1051560"/>
            <a:ext cx="329184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Dual scale</a:t>
            </a:r>
            <a:endParaRPr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8229600" y="1645920"/>
            <a:ext cx="329184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Meeting TTL≈16; tick Gap/Egress; FACN TTL=36/PERIOD=24. Progress stall forces meet and widens W:16→28.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10/29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§4.1 Meeting Lifecycle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Pre → trigger → inputs → process → outputs → return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meeting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11/29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Meeting: Triggers and I/O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should_meet + force rules; executable contracts, not natural language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Content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Key fields / thresholds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Follow StageContract; tick egress/contested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ttl=16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Trigger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period / stall / dense·sparse no_prog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MEET_H=12; stall≥24; n≥12∧gap≥4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Inputs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pose, load, goals, stall, heat, near_pad_deg2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observable state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Process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StageNet/teacher→admit→window PP→repair→legalize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W∈{16,28}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Outputs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stages, priorities, commits, contracts, desired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waypoints[:6], exclusive_pad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Return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Follow + Gap; event PGFA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stall≥25 / streak≥12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12/29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Inside the Meeting and Inter-meeting Repair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Ten steps in run_meeting + three inter-meeting mechanisms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760720" cy="4276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①–②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BFS cache; StageNet/teacher batch stages (ASA sets use_net).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③–④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region_admit; assemble goals &amp; priorities (holder/egress boosts).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⑤–⑥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contested-dest rewrite; pad-egress (FG-CEBI / E4).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⑦–⑧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plan_committed(W); window_repair.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⑨–⑩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 DLO legalize (10≤n≤14 only); issue StageContract(ttl=16).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Follow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commit head else next waypoint.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Gap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low-priority yields next cell.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PGFA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clear BFS prefix for one focal agent.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Note</a:t>
            </a: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FACN updates K on the tick loop, outside run_meeting.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309360" y="822960"/>
            <a:ext cx="5212080" cy="4277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097280"/>
            <a:ext cx="484632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What is negotiated?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846320" cy="1886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Pose toward goal (FINAL/APP/CLEAR)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Relative priorities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Space-time commits over W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Who holds exclusive_pad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800"/>
              </a:spcAft>
            </a:pPr>
            <a:r>
              <a:rPr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How idles clear the throat</a:t>
            </a:r>
            <a:endParaRPr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13/29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§4.2 Protocol Toolbox Overview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Following slides detail trigger / effect / failure / non-goals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protocols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14/29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How Protocols Stack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near = #walkable deg≤2 cells within radius 6 of unload pads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1155" y="1229360"/>
            <a:ext cx="11460175" cy="2199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PGCP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umbrella for Contested-dest, Pad-egress (+FG-CEBI/E4), Progress-pulse, idle hygiene — not one switch.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Geometry first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(n,near) sets ASA and Multi-Band TBC (K0); AFA clips FACN Δ → effective K.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Every tick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Pad-egress (+conditional FG-CEBI/E4) and Contested-dest rewrite goals / clear throats.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Meeting only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StageNet/teacher → region_admit → window PP → DLO → contracts.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 stuck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Progress-pulse (brief lower K, widen W, meet more) + PGFA (one focal beneficiary).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Ablation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disabling PGCP suite drops completion on SH10/11/12/17.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5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Shared rule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no map-id; gates use geometry/state only.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15/29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Protocols: ASA · Multi-Band TBC · AFA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Trust the net? Base how-many-busy?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475488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ASA — Adaptive Stage Authority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457200" y="2014855"/>
            <a:ext cx="3582314" cy="256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choose StageNet vs goal-flow teacher from (n, near) once at start.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n∈[10,14]→net; most n≤9→teacher (exceptions if near≥90…); n==18→teacher; else net.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StageSelector(use_net). Only pose source.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net noise on small fleets; teacher stuck on some mid fleets.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K, paths, assignment; overridable by CLI flags.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332122" y="932688"/>
            <a:ext cx="3564026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Multi-Band TBC — Throat-Band Capacity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313834" y="2014855"/>
            <a:ext cx="3582314" cy="234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static base concurrency K0 from fleet size + throat geometry.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default 6; mid→5; dense→5; mega n≥28→≥7.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claim busy cap init; FACN's k_tbc baseline.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K=6 too hot in mid throats; too conservative on huge fleets.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per-agent goals/priorities/paths; runtime K changes via FACN/pulse.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188756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AFA — Adaptive FACN Authority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8170468" y="2014855"/>
            <a:ext cx="3582314" cy="256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geometry clips FACN's Δ to stop thrash.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attach only if n&gt;k_tbc; raise capped by near; lower only if structural congestion ∧ (stall/no_prog).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clipped Δ → K=clip(k_tbc+Δ).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raise on tiny fleets; death-spiral lowers (e.g. SH39).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which agent / path / stage — throttle only.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16/29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Protocols: Contested-dest · Pad-egress · FG-CEBI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Same-pad head-on and egress-before-ingress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475488" y="932688"/>
            <a:ext cx="356402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Contested-dest</a:t>
            </a:r>
            <a:endParaRPr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457200" y="1463040"/>
            <a:ext cx="3582314" cy="2994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when multiple loaded agents crowd one unload hub, only one holder may enter; others wait off-throat.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≥2 loaded at same hub and ≥2 within Manh≤6 of a pad.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pick holder (TTL=48); non-holders retarget deg≥3; ban pads/deg≤2/prefix last 4; holder pri +3e5. Every tick + meeting.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head-on jams into one narrow unload.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task identity; far agents (&gt;6); idle blockers already in throat (Pad-egress).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332122" y="932688"/>
            <a:ext cx="356402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Pad-egress</a:t>
            </a:r>
            <a:endParaRPr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313834" y="1463040"/>
            <a:ext cx="3582314" cy="3209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force idle/post-unload agents off pads/deg≤2 throats to deg≥3 before ingress.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idle on pad/sibling/pressured throat; soft leave after unload. Every tick + meeting.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idle goal→deg≥3 with high EGRESS_PRI; may retarget approaching carriers off-corridor without demoting carrier role pri.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egress↔ingress deadlock at pads.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multi-destination corridor unions; global sticky (that is E4).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188756" y="932688"/>
            <a:ext cx="3564026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FG-CEBI (E2 lane-lock)</a:t>
            </a:r>
            <a:endParaRPr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8170468" y="1463040"/>
            <a:ext cx="3582314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on extreme throats, lane-lock carriers whose shortest path crosses an active egress corridor — rewrite their stage goal outward.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n≥10 ∧ near≥100 and path crosses an egressor corridor.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stage/motion goal only; priority role unchanged.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outsiders squeezing into a clearing extreme throat.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n&lt;10 or near&lt;100; mid throats / fragile tiny fleets; full E1–E5 FSM.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17/29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Protocols: E4 · Progress-pulse · PGFA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Sticky egress, progress pulse, focal altruism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475488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E4 sticky (SHARP-lite)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457200" y="1463040"/>
            <a:ext cx="3582314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after unload on mid throats with large fleets, keep forcing egress while still on deg≤2 — no need to wait for ingress pressure.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n≥19 ∧ near∈[70,85]; sticky memory of last_unload_pad.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hard egress to deg≥3 at top priority.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parking on endpoint/throat after unload (SH12-class).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ungated global sticky (breaks SH02/08/11/15/17); fixed havens.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4"/>
            </p:custDataLst>
          </p:nvPr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4332122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Progress-pulse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4313834" y="1463040"/>
            <a:ext cx="3582314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when progress freezes, briefly lower concurrency and replan more often.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 no_prog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contested ∧ (done-stale or manh-stale) with ≥2 carriers.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if n≥12, busy_pulse 28 ticks with cap→min(base,3); may shorten meet gap and widen W 16→28.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dense livelock with frozen done/Manh.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lower K when n&lt;12; permanent cap cut; geometry rewrite alone.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7"/>
            </p:custDataLst>
          </p:nvPr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8188756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PGFA — Focal Altruism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8170468" y="1463040"/>
            <a:ext cx="3582314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help exactly one beneficiary — clear blockers on its BFS prefix.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rem≤5 or stall≥25 or any carrier streak≥12.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focal priority order egress&gt;holder&gt;nearest carrier; +1e7 pri; side-step blockers; switch focal only after no-progress thresholds.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mutual-yield livelock from unconditional altruism.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clear corridors for all busy agents; yield among non-focal carriers.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18/29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Protocols: DLO · region_admit · Boundaries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Legalize order and soft region caps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DLO — Dual Lexicographic Order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582314" cy="2779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when agents contend for a cell, try two tie-break orders; keep the one with smaller carrier ΣManh.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inside legalize_desired, only 10≤n≤14 and ≥2 carriers.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compare (−pri,name) vs (−pri,Manh,name); strip swaps; ban illegal cells.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hash/name-order attractor jitter on mid fleets.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stage goals/tasks; outside n∈[10,14] falls back to one order.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22394" y="822960"/>
            <a:ext cx="3746906" cy="516636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32122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region_admit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13834" y="1463040"/>
            <a:ext cx="3582314" cy="256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What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in meetings, stop too many FINAL poses packing one 5×5 tile.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When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after StageNet choices; cap=clamp(free/8,2,5).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Changes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lower excess FINAL to CLEAR/YIELD toward near path cells; protect TO_DROP.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Prevents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arterial jams from many FINALs in one tile.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Not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same-unload prefix carrier count; global hard fleet cap (TBC/FACN).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79028" y="822960"/>
            <a:ext cx="3746906" cy="516636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932688"/>
            <a:ext cx="3564026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Boundaries to remember</a:t>
            </a:r>
            <a:endParaRPr sz="1600" b="1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70468" y="1463040"/>
            <a:ext cx="3582314" cy="2348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FACN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how-many-busy only — not which agent.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StageNet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pose+priority only — not step actions.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Protocols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rewrite goals/pri/K/legalize via observable geometry.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Window PP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finite-horizon commits — not complete CBS.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Ablation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PGCP suite + StageNet for completion; FACN for open-map sim.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19/29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§4.3 StageNet: Architecture and I/O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Left panel lists all 8 agent dims; next slide table + ablation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stagenet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20/29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StageNet: 8-D State, ASA, Ablation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List every agent feature; hard maps collapse without the net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Dim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Meaning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Norm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1–2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current cell cur_x, cur_y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 GRID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3–4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final goal final_x, final_y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 GRID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Manhattan manh(cur,final)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 (2·GRID)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load status: loaded=1, assigned=0.5, idle=0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discrete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463731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blocked streak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min(streak/40, 1)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region_occ + 0.25·conflict heat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clipped</a:t>
                      </a:r>
                      <a:endParaRPr sz="10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114601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Cand ∈ R¹⁰</a:t>
            </a:r>
            <a:r>
              <a:rPr sz="10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cell xy, manh to agent/goal, kind, FINAL/CLEAR flags, stay, occupied, edge+region. K=4 stages.</a:t>
            </a:r>
            <a:endParaRPr sz="10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Ablation</a:t>
            </a:r>
            <a:r>
              <a:rPr sz="10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no_stagenet → SH10=60*, SH17=32*; ASA switches net↔teacher via (n,near).</a:t>
            </a:r>
            <a:endParaRPr sz="10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21/29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§4.3 FACN: Architecture and I/O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Static+dynamic 22-D → Δ class → fleet concurrency K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n-fig-facn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2887" y="822960"/>
            <a:ext cx="9265920" cy="5212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22/29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031240" y="1242695"/>
          <a:ext cx="4034790" cy="4787900"/>
        </p:xfrm>
        <a:graphic>
          <a:graphicData uri="http://schemas.openxmlformats.org/drawingml/2006/table">
            <a:tbl>
              <a:tblPr/>
              <a:tblGrid>
                <a:gridCol w="1344930"/>
                <a:gridCol w="1344930"/>
                <a:gridCol w="1344930"/>
              </a:tblGrid>
              <a:tr h="274320">
                <a:tc>
                  <a:txBody>
                    <a:bodyPr/>
                    <a:p>
                      <a:pPr algn="l" fontAlgn="t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#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Feature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Norm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196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1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Number of agents </a:t>
                      </a:r>
                      <a:r>
                        <a:rPr lang="en-US" altLang="zh-CN" sz="13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</a:t>
                      </a:r>
                      <a:r>
                        <a:rPr lang="en-US" altLang="zh-CN" sz="1300" b="0" i="1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</a:t>
                      </a:r>
                      <a:endParaRPr lang="en-US" altLang="zh-CN" sz="1300" b="0" i="1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30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73685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2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Free cells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400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3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9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near_pad_deg2</a:t>
                      </a: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 (throat proxy)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160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4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Number of pickup stations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12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5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Number of drop-off outlets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12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7244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6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Density </a:t>
                      </a:r>
                      <a:r>
                        <a:rPr lang="en-US" altLang="zh-CN" sz="13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n/free</a:t>
                      </a:r>
                      <a:r>
                        <a:rPr lang="en-US" altLang="zh-CN" sz="1300" b="0" i="1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</a:t>
                      </a:r>
                      <a:r>
                        <a:rPr lang="en-US" altLang="zh-CN" sz="13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/free</a:t>
                      </a:r>
                      <a:endParaRPr lang="en-US" altLang="zh-CN" sz="13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0.15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009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7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Idle-pool ratio </a:t>
                      </a:r>
                      <a:r>
                        <a:rPr lang="en-US" altLang="zh-CN" sz="13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(n−KTBC)/n(</a:t>
                      </a:r>
                      <a:r>
                        <a:rPr lang="en-US" altLang="zh-CN" sz="1300" b="0" i="1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</a:t>
                      </a:r>
                      <a:r>
                        <a:rPr lang="en-US" altLang="zh-CN" sz="13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−</a:t>
                      </a:r>
                      <a:r>
                        <a:rPr lang="en-US" altLang="zh-CN" sz="1300" b="0" i="1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K</a:t>
                      </a:r>
                      <a:r>
                        <a:rPr lang="en-US" altLang="zh-CN" sz="7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TBC</a:t>
                      </a:r>
                      <a:r>
                        <a:rPr lang="en-US" altLang="zh-CN" sz="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​</a:t>
                      </a:r>
                      <a:r>
                        <a:rPr lang="en-US" altLang="zh-CN" sz="13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)/</a:t>
                      </a:r>
                      <a:r>
                        <a:rPr lang="en-US" altLang="zh-CN" sz="1300" b="0" i="1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</a:t>
                      </a:r>
                      <a:endParaRPr lang="en-US" altLang="zh-CN" sz="1300" b="0" i="1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clip to [0,1]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7205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8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Baseline </a:t>
                      </a:r>
                      <a:r>
                        <a:rPr lang="en-US" altLang="zh-CN" sz="13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KTBC</a:t>
                      </a:r>
                      <a:r>
                        <a:rPr lang="en-US" altLang="zh-CN" sz="1300" b="0" i="1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K</a:t>
                      </a:r>
                      <a:r>
                        <a:rPr lang="en-US" altLang="zh-CN" sz="7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TBC</a:t>
                      </a:r>
                      <a:r>
                        <a:rPr lang="en-US" altLang="zh-CN" sz="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​</a:t>
                      </a: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 from TBC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16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228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9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Mean free cells over regions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50 then clip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10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Max free cells over regions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/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80 then clip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920750" y="3429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static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7629525" y="3911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dynamic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7171690" y="1257935"/>
          <a:ext cx="3706495" cy="4511040"/>
        </p:xfrm>
        <a:graphic>
          <a:graphicData uri="http://schemas.openxmlformats.org/drawingml/2006/table">
            <a:tbl>
              <a:tblPr/>
              <a:tblGrid>
                <a:gridCol w="1245235"/>
                <a:gridCol w="1230630"/>
                <a:gridCol w="1230630"/>
              </a:tblGrid>
              <a:tr h="243840"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#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Feature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Norm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1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Busy agents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16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2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Idle agents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30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3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Remaining tasks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100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4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Recent done_rate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0.25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5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Stall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80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6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Avg commit horizon avg_h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28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7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Repairs in recent window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200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8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Conflict heat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already ~[0,1]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9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Region occupancy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4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10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Number of dest-gates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20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912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11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Same-destination cluster size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8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1480"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12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Throat occupancy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t" latinLnBrk="0">
                        <a:buClrTx/>
                        <a:buSzTx/>
                        <a:buFontTx/>
                      </a:pPr>
                      <a:r>
                        <a:rPr lang="en-US" altLang="zh-CN" sz="1100" b="0" i="0">
                          <a:solidFill>
                            <a:srgbClr val="FF0000"/>
                          </a:solidFill>
                          <a:latin typeface="Segoe WPC"/>
                          <a:ea typeface="Segoe WPC"/>
                        </a:rPr>
                        <a:t>/ 8</a:t>
                      </a:r>
                      <a:endParaRPr lang="en-US" altLang="zh-CN" sz="1100" b="0" i="0">
                        <a:solidFill>
                          <a:srgbClr val="FF0000"/>
                        </a:solidFill>
                        <a:latin typeface="Segoe WPC"/>
                        <a:ea typeface="Segoe WPC"/>
                      </a:endParaRPr>
                    </a:p>
                  </a:txBody>
                  <a:tcPr marL="63817" marR="63817" marT="38417" marB="38417" anchor="t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2A2A2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FACN: Control Target, AFA, Gains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Novelty: learn how-many-busy, not which-edge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34160"/>
            <a:ext cx="11460175" cy="840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Target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effective_fleet_cap only; K = clip(K_TBC + Δ), Δ ∈ {−2..+4}.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Stickiness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TTL=36, PERIOD=24, MIN_GAP=12; AFA gates raise/lower/attach.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Train</a:t>
            </a:r>
            <a:r>
              <a:rPr sz="14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offline K* sweep → Δ* = K* − K_TBC → CE cloning.</a:t>
            </a:r>
            <a:endParaRPr sz="14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3291840"/>
          <a:ext cx="1146017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043"/>
                <a:gridCol w="2865043"/>
                <a:gridCol w="2865043"/>
                <a:gridCol w="2865043"/>
              </a:tblGrid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Compare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 sim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better/same/worse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GATE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noFACN → FACN v2 (SH01–40)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1579.7 → 1487.8 (−5.82%)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 / 13 / 5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PASS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813 → 660 (−153)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K:7→10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Main case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SH24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1036 → 602 (−434)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K→10 Δ=+4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Large gain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23/29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§5 Experimental Setup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SH01–20 with official 100-task streams; fixed reproduction knobs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52855"/>
            <a:ext cx="11460175" cy="1953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Maps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SH01–20 stress suite; extended SH21–40.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Tasks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~100 lifelong pickup–delivery jobs per map.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Metrics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VALID; full100; avg_done; avg_sim; avg_wall.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Repro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PYTHONHASHSEED=0; CPU; per-map subprocess isolation.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Baselines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PIBT, M0, PP, windowed ECBS, Hier(M0↔ECBS).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Ours</a:t>
            </a:r>
            <a:r>
              <a:rPr sz="16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Meeting-RH + protocols + StageNet(ASA) + FACN(AFA).</a:t>
            </a:r>
            <a:endParaRPr sz="16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24/29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Main Results: done · sim · wall (SH01–20)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Same task set; VALID reported for all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029"/>
                <a:gridCol w="1910029"/>
                <a:gridCol w="1910029"/>
                <a:gridCol w="1910029"/>
                <a:gridCol w="1910029"/>
                <a:gridCol w="1910029"/>
              </a:tblGrid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Method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full100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VALID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avg_done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avg_sim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avg_wall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PIBT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63.9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62811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40.5s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44.6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942†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1478s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PP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32.4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848†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1716s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ECBS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7364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543s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00891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Hier</a:t>
                      </a:r>
                      <a:r>
                        <a:rPr lang="en-US"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(a*+</a:t>
                      </a:r>
                      <a:r>
                        <a:rPr lang="en-US"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ecbs)</a:t>
                      </a:r>
                      <a:endParaRPr lang="en-US"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4018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1032s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00894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Ours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20/20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100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1708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~28s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65760" y="5394960"/>
            <a:ext cx="11460175" cy="777240"/>
          </a:xfrm>
          <a:prstGeom prst="rect">
            <a:avLst/>
          </a:prstGeom>
          <a:solidFill>
            <a:srgbClr val="EBF4FF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577840"/>
            <a:ext cx="110944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† sim on incomplete maps is not “faster”. Ours: given VALID∧full100, sim≈42% of Hier with 1–2 orders lower wall.</a:t>
            </a:r>
            <a:endParaRPr sz="11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25/29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Why Is the Proposed Method Best?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Optimize sim and wall inside the VALID∧full100 feasible set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vs PIBT/M0/PP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they miss full100 or VALID; smaller sim from early failure is not comparable.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vs ECBS/Hier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all reach 20/20 full100, but ECBS sim=7364/wall≈543s and Hier sim≈4018/wall≈1032s; Ours≈1708/~28s.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Mechanism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spend windowed PP only on slow vars; contracts+local repair avoid per-step complete search; FACN raises K on open maps; protocols kill corridor deadlocks.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Pareto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Ours is bottom-left inside the high-completion subset — not speed by invalidity.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Increments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vs legacy FULL −9.0% sim (0 worse); FACN v2 another −5.82% (GATE PASS).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26/29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Component Ablations and SH20 Case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Completion evidence + throttle evidence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822960"/>
          <a:ext cx="11460174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0058"/>
                <a:gridCol w="3820058"/>
                <a:gridCol w="3820058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Disable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Typical effect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Reading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1A365D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no_pgcp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SH10=46, SH12=45, SH11=54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Corridor suite critical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no_stagenet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SH10=60, SH17=32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Pose head necessary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no_pgfa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SH17=20; SH03 sim×2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Mutual-yield / waste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noFACN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SH20:660→813 etc.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1E293B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Open-map throughput loss</a:t>
                      </a:r>
                      <a:endParaRPr sz="1100" b="0">
                        <a:solidFill>
                          <a:srgbClr val="1E293B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297680"/>
            <a:ext cx="1146017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SH20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n≈30, TBC≈7 → large idle pool; FACN raises K≈10, sim 813→660. Lever is operational concurrency.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27/29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28016"/>
            <a:ext cx="1146017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Limitations and Conclusions</a:t>
            </a:r>
            <a:endParaRPr sz="20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Honest bounds + takeaways</a:t>
            </a:r>
            <a:endParaRPr sz="10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749808"/>
            <a:ext cx="1005840" cy="2743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1146017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Limits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hardest maps remain stressful; FACN held-out gap; protocol maintenance cost; no optimality claim vs ECBS.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C1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Lifelong MAPD needs dual timescales — meetings for slow vars, ticks for fast repair.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C2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Effective AI = StageNet + FACN + geometry-gated protocols, each ablatable.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C3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Inside VALID∧full100, we improve both sim and wall — a practical Pareto point.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• C4</a:t>
            </a:r>
            <a:r>
              <a:rPr sz="1200" b="0">
                <a:solidFill>
                  <a:srgbClr val="1E293B"/>
                </a:solidFill>
                <a:latin typeface="微软雅黑" panose="020B0503020204020204" charset="-122"/>
                <a:ea typeface="微软雅黑" panose="020B0503020204020204" charset="-122"/>
              </a:rPr>
              <a:t>: Meeting triggers/I/O are auditable by construction.</a:t>
            </a:r>
            <a:endParaRPr sz="1200" b="0">
              <a:solidFill>
                <a:srgbClr val="1E2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28/29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solidFill>
            <a:srgbClr val="F7FAFC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A365D"/>
                </a:solidFill>
                <a:latin typeface="微软雅黑" panose="020B0503020204020204" charset="-122"/>
                <a:ea typeface="微软雅黑" panose="020B0503020204020204" charset="-122"/>
              </a:rPr>
              <a:t>Thank You · Q&amp;A</a:t>
            </a:r>
            <a:endParaRPr sz="3200" b="1">
              <a:solidFill>
                <a:srgbClr val="1A365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B6CB0"/>
                </a:solidFill>
                <a:latin typeface="微软雅黑" panose="020B0503020204020204" charset="-122"/>
                <a:ea typeface="微软雅黑" panose="020B0503020204020204" charset="-122"/>
              </a:rPr>
              <a:t>Meeting-RH × StageNet × FACN × Geometry-gated Protocols</a:t>
            </a:r>
            <a:endParaRPr sz="1400" b="0">
              <a:solidFill>
                <a:srgbClr val="2B6CB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686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Lifelong MAPD · Meeting-RH Hybrid Stack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11535" y="6601968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29/29</a:t>
            </a:r>
            <a:endParaRPr sz="800" b="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2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3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4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5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6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7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8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9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10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11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12.xml><?xml version="1.0" encoding="utf-8"?>
<p:tagLst xmlns:p="http://schemas.openxmlformats.org/presentationml/2006/main">
  <p:tag name="KSO_WM_DIAGRAM_VIRTUALLY_FRAME" val="{&quot;height&quot;:356.4,&quot;left&quot;:28.8,&quot;top&quot;:64.8,&quot;width&quot;:900}"/>
</p:tagLst>
</file>

<file path=ppt/tags/tag13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14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15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16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17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18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19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20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21.xml><?xml version="1.0" encoding="utf-8"?>
<p:tagLst xmlns:p="http://schemas.openxmlformats.org/presentationml/2006/main">
  <p:tag name="KSO_WM_DIAGRAM_VIRTUALLY_FRAME" val="{&quot;height&quot;:396,&quot;left&quot;:28.8,&quot;top&quot;:64.8,&quot;width&quot;:896.4}"/>
</p:tagLst>
</file>

<file path=ppt/tags/tag22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23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24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25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26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27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28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29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0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1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2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3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4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5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6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7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8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39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0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1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2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3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4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5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6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7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ags/tag48.xml><?xml version="1.0" encoding="utf-8"?>
<p:tagLst xmlns:p="http://schemas.openxmlformats.org/presentationml/2006/main">
  <p:tag name="KSO_WM_DIAGRAM_VIRTUALLY_FRAME" val="{&quot;height&quot;:406.8,&quot;left&quot;:28.8,&quot;top&quot;:64.8,&quot;width&quot;:902.37590551181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18088</Words>
  <Application>WPS 演示</Application>
  <PresentationFormat>On-screen Show (4:3)</PresentationFormat>
  <Paragraphs>994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Segoe WPC</vt:lpstr>
      <vt:lpstr>katex_main</vt:lpstr>
      <vt:lpstr>KaTeX_Math</vt:lpstr>
      <vt:lpstr>Consolas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℡曾凯博⁶₆6</cp:lastModifiedBy>
  <cp:revision>22</cp:revision>
  <dcterms:created xsi:type="dcterms:W3CDTF">2013-01-27T09:14:00Z</dcterms:created>
  <dcterms:modified xsi:type="dcterms:W3CDTF">2026-10-13T02:21:43Z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4827E26167F244FE91A8BB1A4ED82EED_12</vt:lpwstr>
  </property>
  <property fmtid="{D5CDD505-2E9C-101B-9397-08002B2CF9AE}" pid="3" name="KSOProductBuildVer">
    <vt:lpwstr>2052-12.1.0.24657</vt:lpwstr>
  </property>
</Properties>
</file>