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6CB0"/>
                </a:solidFill>
                <a:latin typeface="Microsoft YaHei"/>
                <a:ea typeface="Microsoft YaHei"/>
              </a:rPr>
              <a:t>Lifelong Multi-Agent Pickup-and-Delivery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365D"/>
                </a:solidFill>
                <a:latin typeface="Microsoft YaHei"/>
                <a:ea typeface="Microsoft YaHei"/>
              </a:rPr>
              <a:t>Explainable Fleet Concurrency Control
in a Meeting-based Hybrid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Meeting-RH × Geometry-gated Protocols × StageNet × FACN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Technical talk · ~12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1/29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Problem → Related Work → Method → Details →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932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Problem &amp;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8755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Rules, VALID criteria, hardness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11460175" cy="640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007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Prior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70078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CBS/ECBS, PP, PIBT, MAPD, RHCR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9424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140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359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Our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414016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Contributions &amp; overview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62656"/>
            <a:ext cx="11460175" cy="640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27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§4.1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723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Meeting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12724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Trigger → I/O → process → return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75888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§4.2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Protocol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8404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Failure mode → tool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11460175" cy="640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537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§4.3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98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AI 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55371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StageNet / FACN: arch, I/O, ablation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02352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669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  <a:ea typeface="Microsoft YaHei"/>
              </a:rPr>
              <a:t>§5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</a:rPr>
              <a:t>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26694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done · sim · wall; why best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§1 Problem and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Lifelong MAPD: continuous pickup–delivery under collision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Definition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on a shared grid G=(V,E), AGVs continuously receive pickup→delivery tasks; allocate and plan online for high throughput without conflicts.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vs one-shot MAPF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goals keep changing; a single offline plan is insufficient — periodic re-coordination is mandatory.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Value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warehouses mix open floors and capacity-1 corridors; static parameters and purely reactive policies fail across regimes.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Research question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under limited online compute, which slow variables (pose, priority, concurrency) and which periods keep completion high and wall-clock practical?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Stance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protocols for correctness; small auditable nets for adaptation; geometry gates for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Operating Rules and VALID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All hard constraints must hold; otherwise the trajectory is invalid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Class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Rule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Check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Kinematics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4-connected; turns∈{±90°,180°}; move/turn/load/unload/wait =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Legal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Capacity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One package/agent; FIFO at pickup; ≤1 pickup/station/sec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Task semantics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Delivery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Unload only at designated adjacent cells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Correct goal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Vertex conflict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Two agents same cell same time → illegal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VALID=false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Swap conflict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Opposite edge swap → illegal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VALID=false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Bounds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Obstacle/out-of-map → illegal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VALID=false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done = correct deliveries; full100 = all tasks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Primary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Efficiency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sim = finish time; wall = runtime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Secondary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532120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  <a:latin typeface="Microsoft YaHei"/>
                <a:ea typeface="Microsoft YaHei"/>
              </a:rPr>
              <a:t>All comparisons require VALID; a smaller sim on an invalid trajectory does not count as better.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4/29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Hardness: Why a Hybrid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Throughput, validity, heterogeneous geometry, online compute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Capacity-1 corridors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same-destination / deg≤2 throats create structural head-ons.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Heterogeneous maps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open large fleets need higher concurrency; dense mazes need throttling — one static K fails.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Lifelong streams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dual timescales — slow vars negotiated periodically; fast conflicts repaired every tick.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Complete search is costly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windowed ECBS completes but costs hundreds of seconds; PIBT is fast but fragile.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Explainability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black-box policies cannot audit who enters a corridor and how many agents may stay busy.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5/29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§2 Related Work (I): Classical MAPF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Citations and one-line mechanisms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Method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Idea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Limit (for us)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Sharon et al., AIJ 2015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High-level conflict split + low-level 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One-shot; lifelong needs repeats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ECBS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Barer et al., SoCS 2014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Focal-search bounded-suboptimal CBS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High completion, heavy wall-clock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Priority 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Classical PP / CA*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Serial space-time A* by priority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Bad priorities → deadlock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PIBT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Okumura et al., AIJ 2022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Priority inheritance + backtracking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Scalable but fragile in corridors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303520"/>
            <a:ext cx="11460175" cy="7772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65D"/>
                </a:solidFill>
                <a:latin typeface="Microsoft YaHei"/>
                <a:ea typeface="Microsoft YaHei"/>
              </a:rPr>
              <a:t>Our baselines: M0=space-time A*+greedy assign; PP=priority A*; ECBS=windowed ECBS.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6/29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§2 Related Work (II): Lifelong / MAPD and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From task streams to rolling horizons — table + how gaps drive our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Method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Idea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Gap for us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MAPD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Ma et al., AAAI 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Coupled assign +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 learned operational concurrency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RHCR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Li et al., AAAI 2021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Replan every h; resolve in window w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Still costly; no pose/K learning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exRHCR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Madar et al., SoCS 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Warm-start priorities in PBS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Faster search ≠ how-many-busy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Hier(M0↔ECBS)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Our baseline stack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M0 easy / ECBS hard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High full100, wall 700–1000s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251960"/>
            <a:ext cx="11460175" cy="19202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111858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Gap → design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(i) reactive fragile → contracts+protocols; (ii) windowed search slow → meet on slow vars only; (iii) pose vs throttle not split → StageNet=pose, FACN=K only (not which agent); (iv) no explainable failure tools → geometry-gated ASA/TBC/corridor/PGFA.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§3 Method and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Meeting-RH hybrid: protocols for VALID; small nets for adaptation; ablatable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5623560" cy="21945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  <a:ea typeface="Microsoft YaHei"/>
              </a:rPr>
              <a:t>C1 Dual timescales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Slow: MEET_H=12 negotiates pose/priority/commits (W∈{16,28}); StageContract ttl=16.
Fast: Follow contracts; Gap yield; PGFA single-focal altruism.
vs RHCR: we explicitly factor what must be negotiated, not full conflict resolution every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22960"/>
            <a:ext cx="5623560" cy="21945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932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  <a:ea typeface="Microsoft YaHei"/>
              </a:rPr>
              <a:t>C2 FACN throttle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Learn Δ∈{−2..+4}, K=clip(K_TBC+Δ); claim valve only — BFS costs untouched.
Controls how-many-busy, not which agents (assignment/priority chooses who).
AFA gates thrash; raise K on open maps, throttle when dense.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5623560" cy="21945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  <a:ea typeface="Microsoft YaHei"/>
              </a:rPr>
              <a:t>C3 StageNet 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Score FINAL/APPROACH/CLEAR + scalar priority; trained by IL.
ASA switches net↔teacher via (n, near_pad_deg2).
Ablation: hard maps collapse without StageNet (e.g., SH10/SH17).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623560" cy="21945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64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  <a:ea typeface="Microsoft YaHei"/>
              </a:rPr>
              <a:t>C4 Geometry-gated protocols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118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Contested-dest / Pad-egress / FG-CEBI / E4 / Progress-pulse / PGFA…
Each tool maps to a reproduced failure (pad head-on, post-unload throat, mutual yield…).
No map-id: gates use geometry/state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2356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Microsoft YaHei"/>
                <a:ea typeface="Microsoft YaHei"/>
              </a:rPr>
              <a:t>Non-goals: end-to-end black-box step policies; map-id hardcoding; direction fields as the main lever.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8/29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Method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Layers: geometry gates → Meeting-RH → tick execution; FACN feedback on 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9/29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Design: Decouple · Gate · Dual Timescale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Each module maps to a named failure — no giant catch-all 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03320" cy="50292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Microsoft YaHei"/>
                <a:ea typeface="Microsoft YaHei"/>
              </a:rPr>
              <a:t>Decouple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StageNet=pose; FACN=throttle; PGCP=corridor lights. Wrong pose ≠ wrong concurrency — learn and ablate separately.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822960"/>
            <a:ext cx="3703320" cy="50292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051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Microsoft YaHei"/>
                <a:ea typeface="Microsoft YaHei"/>
              </a:rP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ASA trusts StageNet; AFA allows Δ ≠ 0; FG-CEBI/E4 only under geometry. Trust is auditable.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822960"/>
            <a:ext cx="3703320" cy="50292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051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Microsoft YaHei"/>
                <a:ea typeface="Microsoft YaHei"/>
              </a:rPr>
              <a:t>Dual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Meeting TTL≈16; tick Gap/Egress; FACN TTL=36/PERIOD=24. Progress stall forces meet and widens W:16→28.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§4.1 Meeting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Pre → trigger → inputs → process → outputs → 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mee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11/29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Meeting: Triggers and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should_meet + force rules; executable contracts, not natural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Stage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Content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Key fields / thresholds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Follow StageContract; tick egress/contested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ttl=16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Trigger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period / stall / dense·sparse no_prog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MEET_H=12; stall≥24; n≥12∧gap≥4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Inputs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pose, load, goals, stall, heat, near_pad_deg2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observable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Process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StageNet/teacher→admit→window PP→repair→legalize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W∈{16,28}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Outputs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stages, priorities, commits, contracts, desired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waypoints[:6], exclusive_pad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Return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Follow + Gap; event PGFA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stall≥25 / streak≥12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12/29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Inside the Meeting and Inter-meeting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Ten steps in run_meeting + three inter-meeting mechanisms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①–②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BFS cache; StageNet/teacher batch stages (ASA sets use_net).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③–④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region_admit; assemble goals &amp; priorities (holder/egress boosts).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⑤–⑥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contested-dest rewrite; pad-egress (FG-CEBI / E4).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⑦–⑧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plan_committed(W); window_repair.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⑨–⑩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 DLO legalize (10≤n≤14 only); issue StageContract(ttl=16).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Follow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commit head else next waypoint.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Gap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low-priority yields next cell.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PGFA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clear BFS prefix for one focal agent.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Note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FACN updates K on the tick loop, outside run_meeting.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822960"/>
            <a:ext cx="5212080" cy="51206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</a:rPr>
              <a:t>What is negotiated?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Pose toward goal (FINAL/APP/CLEAR)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Relative priorities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Space-time commits over W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Who holds exclusive_pad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• How idles clear the throat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13/29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§4.2 Protocol Toolbox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Following slides detail trigger / effect / failure / non-goals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protoco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14/29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How Protocols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near = #walkable deg≤2 cells within radius 6 of unload pads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PGCP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umbrella for Contested-dest, Pad-egress (+FG-CEBI/E4), Progress-pulse, idle hygiene — not one switch.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Geometry first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(n,near) sets ASA and Multi-Band TBC (K0); AFA clips FACN Δ → effective K.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Every tick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Pad-egress (+conditional FG-CEBI/E4) and Contested-dest rewrite goals / clear throats.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Meeting only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StageNet/teacher → region_admit → window PP → DLO → contracts.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When stuck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Progress-pulse (brief lower K, widen W, meet more) + PGFA (one focal beneficiary).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Ablation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disabling PGCP suite drops completion on SH10/11/12/17.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Shared rule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no map-id; gates use geometry/state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15/29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Protocols: ASA · Multi-Band TBC · AFA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Trust the net? Base how-many-busy?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ASA — Adaptive Stage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choose StageNet vs goal-flow teacher from (n, near) once at start.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n∈[10,14]→net; most n≤9→teacher (exceptions if near≥90…); n==18→teacher; else net.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StageSelector(use_net). Only pose source.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net noise on small fleets; teacher stuck on some mid fleets.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K, paths, assignment; overridable by CLI flags.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Multi-Band TBC — Throat-Band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static base concurrency K0 from fleet size + throat geometry.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default 6; mid→5; dense→5; mega n≥28→≥7.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claim busy cap init; FACN's k_tbc baseline.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K=6 too hot in mid throats; too conservative on huge fleets.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per-agent goals/priorities/paths; runtime K changes via FACN/pulse.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AFA — Adaptive FACN Authority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468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geometry clips FACN's Δ to stop thrash.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attach only if n&gt;k_tbc; raise capped by near; lower only if structural congestion ∧ (stall/no_prog).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clipped Δ → K=clip(k_tbc+Δ).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raise on tiny fleets; death-spiral lowers (e.g. SH39).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which agent / path / stage — throttle 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16/29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Protocols: Contested-dest · Pad-egress · FG-CEBI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Same-pad head-on and egress-before-ingress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Contested-dest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when multiple loaded agents crowd one unload hub, only one holder may enter; others wait off-throat.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≥2 loaded at same hub and ≥2 within Manh≤6 of a pad.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pick holder (TTL=48); non-holders retarget deg≥3; ban pads/deg≤2/prefix last 4; holder pri +3e5. Every tick + meeting.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head-on jams into one narrow unload.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task identity; far agents (&gt;6); idle blockers already in throat (Pad-egress).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Pad-egress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force idle/post-unload agents off pads/deg≤2 throats to deg≥3 before ingress.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idle on pad/sibling/pressured throat; soft leave after unload. Every tick + meeting.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idle goal→deg≥3 with high EGRESS_PRI; may retarget approaching carriers off-corridor without demoting carrier role pri.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egress↔ingress deadlock at pads.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multi-destination corridor unions; global sticky (that is E4).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FG-CEBI (E2 lane-lock)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468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on extreme throats, lane-lock carriers whose shortest path crosses an active egress corridor — rewrite their stage goal outward.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n≥10 ∧ near≥100 and path crosses an egressor corridor.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stage/motion goal only; priority role unchanged.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outsiders squeezing into a clearing extreme throat.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n&lt;10 or near&lt;100; mid throats / fragile tiny fleets; full E1–E5 FSM.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17/29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Protocols: E4 · Progress-pulse · PGFA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Sticky egress, progress pulse, focal altruism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E4 sticky (SHARP-lite)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after unload on mid throats with large fleets, keep forcing egress while still on deg≤2 — no need to wait for ingress pressure.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n≥19 ∧ near∈[70,85]; sticky memory of last_unload_pad.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hard egress to deg≥3 at top priority.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parking on endpoint/throat after unload (SH12-class).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ungated global sticky (breaks SH02/08/11/15/17); fixed havens.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Progress-pulse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when progress freezes, briefly lower concurrency and replan more often.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 no_prog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contested ∧ (done-stale or manh-stale) with ≥2 carriers.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if n≥12, busy_pulse 28 ticks with cap→min(base,3); may shorten meet gap and widen W 16→28.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dense livelock with frozen done/Manh.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lower K when n&lt;12; permanent cap cut; geometry rewrite alone.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PGFA — Focal Altruism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468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help exactly one beneficiary — clear blockers on its BFS prefix.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rem≤5 or stall≥25 or any carrier streak≥12.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focal priority order egress&gt;holder&gt;nearest carrier; +1e7 pri; side-step blockers; switch focal only after no-progress thresholds.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mutual-yield livelock from unconditional altruism.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clear corridors for all busy agents; yield among non-focal carriers.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18/29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Protocols: DLO · region_admit ·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Legalize order and soft region caps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DLO — Dual Lexicographic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when agents contend for a cell, try two tie-break orders; keep the one with smaller carrier ΣManh.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inside legalize_desired, only 10≤n≤14 and ≥2 carriers.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compare (−pri,name) vs (−pri,Manh,name); strip swaps; ban illegal cells.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hash/name-order attractor jitter on mid fleets.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stage goals/tasks; outside n∈[10,14] falls back to one order.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region_admit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What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in meetings, stop too many FINAL poses packing one 5×5 tile.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When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after StageNet choices; cap=clamp(free/8,2,5).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Changes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lower excess FINAL to CLEAR/YIELD toward near path cells; protect TO_DROP.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Prevents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arterial jams from many FINALs in one tile.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Not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same-unload prefix carrier count; global hard fleet cap (TBC/FACN).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32688"/>
            <a:ext cx="3564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Microsoft YaHei"/>
                <a:ea typeface="Microsoft YaHei"/>
              </a:rPr>
              <a:t>Boundaries to 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468" y="1463040"/>
            <a:ext cx="358231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FACN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how-many-busy only — not which agent.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StageNet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pose+priority only — not step actions.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Protocols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rewrite goals/pri/K/legalize via observable geometry.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Window PP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finite-horizon commits — not complete CBS.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• Ablation</a:t>
            </a:r>
            <a:r>
              <a:rPr sz="900" b="0">
                <a:solidFill>
                  <a:srgbClr val="1E293B"/>
                </a:solidFill>
                <a:latin typeface="Microsoft YaHei"/>
                <a:ea typeface="Microsoft YaHei"/>
              </a:rPr>
              <a:t>: PGCP suite + StageNet for completion; FACN for open-map sim.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19/29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§4.3 StageNet: Architecture and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Left panel lists all 8 agent dims; next slide table + ablation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stage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20/29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StageNet: 8-D State, ASA,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List every agent feature; hard maps collapse without the 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Dim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Meaning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Norm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1–2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current cell cur_x, cur_y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/ GRID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3–4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final goal final_x, final_y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/ GRID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Manhattan manh(cur,final)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/ (2·GRID)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load status: loaded=1, assigned=0.5, idle=0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discrete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blocked streak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min(streak/40,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region_occ + 0.25·conflict heat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clipped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976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Microsoft YaHei"/>
                <a:ea typeface="Microsoft YaHei"/>
              </a:rPr>
              <a:t>• Cand ∈ R¹⁰</a:t>
            </a: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: cell xy, manh to agent/goal, kind, FINAL/CLEAR flags, stay, occupied, edge+region. K=4 stages.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Microsoft YaHei"/>
                <a:ea typeface="Microsoft YaHei"/>
              </a:rPr>
              <a:t>• Ablation</a:t>
            </a: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</a:rPr>
              <a:t>: no_stagenet → SH10=60*, SH17=32*; ASA switches net↔teacher via (n,near).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21/29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§4.3 FACN: Architecture and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Static+dynamic 22-D → Δ class → fleet concurrency 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fac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22/29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FACN: Control Target, AFA,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Novelty: learn how-many-busy, not which-edge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Target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effective_fleet_cap only; K = clip(K_TBC + Δ), Δ ∈ {−2..+4}.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Stickiness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TTL=36, PERIOD=24, MIN_GAP=12; AFA gates raise/lower/attach.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• Train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: offline K* sweep → Δ* = K* − K_TBC → CE cloning.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291840"/>
          <a:ext cx="114601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Compare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 sim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better/same/worse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GATE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noFACN → FACN v2 (SH01–40)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1579.7 → 1487.8 (−5.82%)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 / 13 /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813 → 660 (−153)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K:7→10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Main case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1036 → 602 (−434)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K→10 Δ=+4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Large gain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23/29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§5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SH01–20 with official 100-task streams; fixed reproduction knobs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Maps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SH01–20 stress suite; extended SH21–40.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Tasks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~100 lifelong pickup–delivery jobs per map.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Metrics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VALID; full100; avg_done; avg_sim; avg_wall.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Repro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PYTHONHASHSEED=0; CPU; per-map subprocess isolation.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Baselines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PIBT, M0, PP, windowed ECBS, Hier(M0↔ECBS).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Ours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Meeting-RH + protocols + StageNet(ASA) + FACN(AFA).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24/29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Main Results: done · sim · wall (SH01–20)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Same task set; VALID reported for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29"/>
                <a:gridCol w="1910029"/>
                <a:gridCol w="1910029"/>
                <a:gridCol w="1910029"/>
                <a:gridCol w="1910029"/>
                <a:gridCol w="1910029"/>
              </a:tblGrid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Method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full100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VALID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avg_done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avg_sim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avg_wall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PIBT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62811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40.5s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44.6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942†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1478s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32.4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848†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1716s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ECBS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7364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543s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Hier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1032s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Ours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1708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~28s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394960"/>
            <a:ext cx="11460175" cy="7772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  <a:latin typeface="Microsoft YaHei"/>
                <a:ea typeface="Microsoft YaHei"/>
              </a:rPr>
              <a:t>† sim on incomplete maps is not “faster”. Ours: given VALID∧full100, sim≈42% of Hier with 1–2 orders lower wall.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25/29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Why Is the Proposed Method Best?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Optimize sim and wall inside the VALID∧full100 feasible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vs PIBT/M0/PP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they miss full100 or VALID; smaller sim from early failure is not comparable.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vs ECBS/Hier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all reach 20/20 full100, but ECBS sim=7364/wall≈543s and Hier sim≈4018/wall≈1032s; Ours≈1708/~28s.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Mechanism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spend windowed PP only on slow vars; contracts+local repair avoid per-step complete search; FACN raises K on open maps; protocols kill corridor deadlocks.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Pareto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Ours is bottom-left inside the high-completion subset — not speed by invalidity.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Increments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vs legacy FULL −9.0% sim (0 worse); FACN v2 another −5.82% (GATE PASS).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26/29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Component Ablations and SH20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Completion evidence + throttle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Disable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Typical effect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Reading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no_pgcp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SH10=46, SH12=45, SH11=54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Corridor suite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no_stagenet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SH10=60, SH17=32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Pose head necessary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no_pgfa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SH17=20; SH03 sim×2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Mutual-yield / waste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noFACN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SH20:660→813 etc.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Open-map throughput loss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97680"/>
            <a:ext cx="11460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SH20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n≈30, TBC≈7 → large idle pool; FACN raises K≈10, sim 813→660. Lever is operational concurrency.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27/29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  <a:ea typeface="Microsoft YaHei"/>
              </a:rPr>
              <a:t>Limitations and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Honest bounds +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Limits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hardest maps remain stressful; FACN held-out gap; protocol maintenance cost; no optimality claim vs ECBS.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C1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Lifelong MAPD needs dual timescales — meetings for slow vars, ticks for fast repair.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C2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Effective AI = StageNet + FACN + geometry-gated protocols, each ablatable.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C3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Inside VALID∧full100, we improve both sim and wall — a practical Pareto point.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• C4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: Meeting triggers/I/O are auditable by construction.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28/29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365D"/>
                </a:solidFill>
                <a:latin typeface="Microsoft YaHei"/>
                <a:ea typeface="Microsoft YaHei"/>
              </a:rPr>
              <a:t>Thank You ·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6CB0"/>
                </a:solidFill>
                <a:latin typeface="Microsoft YaHei"/>
                <a:ea typeface="Microsoft YaHei"/>
              </a:rPr>
              <a:t>Meeting-RH × StageNet × FACN × Geometry-gated Protocols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Lifelong MAPD · Meeting-RH Hybrid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Microsoft YaHei"/>
                <a:ea typeface="Microsoft YaHei"/>
              </a:rPr>
              <a:t>29/29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