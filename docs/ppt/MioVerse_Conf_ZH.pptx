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6CB0"/>
                </a:solidFill>
                <a:latin typeface="Microsoft YaHei"/>
                <a:ea typeface="Microsoft YaHei"/>
              </a:rPr>
              <a:t>Lifelong Multi-Agent Pickup-and-Delivery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65D"/>
                </a:solidFill>
                <a:latin typeface="Microsoft YaHei"/>
                <a:ea typeface="Microsoft YaHei"/>
              </a:rPr>
              <a:t>会议式混合栈中的可解释车队并发控制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Meeting-RH × 几何门控协议 × StageNet 姿态选择 × FACN 并发油门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方法报告 · 约 12 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1/29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汇报结构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问题 → 相关工作 → 方法 → 细节 → 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32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研究问题与价值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8755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规则、VALID 标准、核心难点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007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历史方法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70078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CBS/ECBS、PP、PIBT、MAPD、RHCR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9424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140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359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我们的方法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41401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贡献与系统总览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62656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27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§4.1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723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Meeting 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12724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触发—输入—过程—输出—回归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75888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§4.2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协议工具栈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8404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每个工具对应的故障模式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537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§4.3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98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AI 模块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55371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StageNet / FACN：结构、I/O、消融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02352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669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结果对比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26694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完成率 · sim · wall，为何更优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§1 研究问题与价值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Lifelong MAPD：持续任务流下的多机取卸货与无碰路径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问题定义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：在共享网格图 G=(V,E) 上，一组 AGV 持续接收取货→卸货任务；需在线分配与规划，使吞吐尽可能高，且始终无冲突。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与 one-shot MAPF 的本质区别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：目标点随任务流不断更新，无法一次性求出全局最优路径后静止执行；必须周期再协调。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应用价值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：自动化仓储/分拣中，廊道容量有限、车队规模变化、开阔区与窄廊并存——静态参数与纯反应式策略均易失效。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科学问题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：在有限在线算力下，应协商哪些慢变量（姿态、优先级、并发上限），用何种周期触发重规划，才能在异构几何上同时保证完成率与墙钟效率？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本文立场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：正确性由可解释协议保证；自适应由小型可审计网络承担；几何门控决定何时信任网络。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运行规则与 VALID 校验标准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硬约束必须全部满足，否则轨迹判无效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规则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校验含义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运动学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正交移动；转角∈{±90°,180°}；移/转/装/卸/等待各计 1 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动作合法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运载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单车同时仅一货；取货站 FIFO；每站每秒最多一车取货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任务语义正确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卸货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必须在目的口邻格卸货点完成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目的地正确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Vertex 冲突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同一时刻两车占同一格 → 非法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VALID=否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Swap 冲突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两车对向交换相邻格 → 非法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VALID=否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界外/障碍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进入不可行格 → 非法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VALID=否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完成指标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done = 正确卸货任务数；full100 = done=任务总数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质量主指标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效率指标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sim = 末任务完成时刻；wall = 求解墙钟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次级指标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532120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</a:rPr>
              <a:t>本文报告的所有对比均要求 VALID；未 VALID 的轨迹即使 sim 更小也不计入「更优」。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核心难点：为何需要混合栈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吞吐、正确性、异构几何、在线算力四者冲突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容量-1 廊道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：同卸货点/deg≤2 喉道上多车对顶是结构性死锁源，不是简单加边权能消掉的噪声。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异构场景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：开阔大车队需要抬高并发；高密迷宫需要限流与廊门——单一静态 K 必然顾此失彼。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终身流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：任务持续到达 → 必须双时间尺度：慢变量（姿态/优先级/K）周期协商，快冲突 tick 级修补。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完备搜索昂贵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：窗口 ECBS 可高完成率，但墙钟达数百秒，难在线；反应式 PIBT 墙钟快但完成率不稳。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可解释性要求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：端到端黑盒难以审计「为何此刻让谁进廊、为何允许 10 车忙碌」——需要模块化决策变量。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§2 相关工作（一）：经典 MAPF 求解器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引用与一句话机制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代表文献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机制要点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局限（对本问题）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Sharon et al., AIJ 2015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高层冲突拆分 + 低层单机最优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one-shot；lifelong 需反复调用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ECBS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Barer et al., SoCS 2014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Focal search 有界次优 CBS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完成率高但窗内搜索墙钟重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Priority 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经典 PP / CA*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固定优先级串行时空 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优先级差则死锁；VALID 不稳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PIBT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Okumura et al., AIJ 2022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优先级继承+回溯的逐步反应式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可扩展，但窄廊/死胡同脆弱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03520"/>
            <a:ext cx="11460175" cy="7772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65D"/>
                </a:solidFill>
                <a:latin typeface="Microsoft YaHei"/>
                <a:ea typeface="Microsoft YaHei"/>
              </a:rPr>
              <a:t>本仓库对照实现：M0=时空 A* 贪心指派；PP=优先级 A*；ECBS=窗口化 ECBS。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§2 相关工作（二）：Lifelong / MAPD 与缺口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从任务流框架到滚动窗——表 + 缺口如何导向本文设计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代表文献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机制要点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对本问题的缺口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MAPD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Ma et al., AAAI 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取卸任务流；分配与路径耦合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未学异构几何下的运营并发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RHCR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Li et al., AAAI 2021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每 h 步重规划；仅窗 w 内消冲突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窗内搜索仍贵；无显式姿态/K 学习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exRHCR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Madar et al., SoCS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历史优先级 warm-start PBS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加速搜索 ≠ 控制「多少车该忙」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Hier(M0↔ECBS)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本工作对照栈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易图 M0，难图切换 ECBS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full100 高，但 wall 700–1000s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251960"/>
            <a:ext cx="11460175" cy="19202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11858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缺口 → 设计映射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：(i) 反应式快但不稳 → 用会议契约+协议，而不是纯 PIBT；(ii) 窗口搜索稳但慢 → 会议只协商慢变量，会间局部修补；(iii) 缺「姿态 vs 油门」分离 → StageNet 管姿态，FACN 只调 K（不选哪辆车）；(iv) 缺可解释故障工具 → ASA/TBC/廊门/PGFA 等按几何门控启用。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§3 方法与创新点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Meeting-RH 混合栈：协议保 VALID，小网络学自适应；模块边界可消融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5623560" cy="21945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  <a:ea typeface="Microsoft YaHei"/>
              </a:rPr>
              <a:t>C1 双时间尺度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慢：MEET_H=12 协商姿态/优先级/窗承诺（W∈{16,28}），签发 StageContract(ttl=16)。
快：会间 Follow 契约；Gap 让路；PGFA 单焦点利他。
相对 RHCR：不是每步完备消冲突，而是把「该协商什么」显式拆开。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22960"/>
            <a:ext cx="5623560" cy="21945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932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  <a:ea typeface="Microsoft YaHei"/>
              </a:rPr>
              <a:t>C2 FACN 并发油门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学 Δ∈{−2..+4}，K=clip(K_TBC+Δ)，只改 claim 容量阀门，不改 BFS 边权。
管「多少车可 busy」，不管「哪几辆」——选车由指派/优先级完成。
AFA 几何门控防 thrash；开阔图抬 K，密图可限流。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5623560" cy="21945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  <a:ea typeface="Microsoft YaHei"/>
              </a:rPr>
              <a:t>C3 StageNet 姿态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对 FINAL / APPROACH / CLEAR 打分 + 标量优先级；IL 训练。
ASA 用 (n, near_pad_deg2) 在 net↔teacher 间切换，降低小车队噪声。
消融：难图关 StageNet 完成率崩（如 SH10/SH17）。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623560" cy="21945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64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  <a:ea typeface="Microsoft YaHei"/>
              </a:rPr>
              <a:t>C4 几何门控协议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118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Contested-dest / Pad-egress / FG-CEBI / E4 / Progress-pulse / PGFA…
每个工具对应可复现故障（同 dest 对顶、卸后占喉、互让死锁等）。
无 map-id：条件只用几何与状态量。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2356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Microsoft YaHei"/>
                <a:ea typeface="Microsoft YaHei"/>
              </a:rPr>
              <a:t>明确不做：端到端逐步黑盒策略；按地图编号硬编码；把全局方向场当作主杠杆。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方法总览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三层：几何门控 → Meeting-RH → Tick 执行；FACN 反馈调节 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h-fig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设计原则：解耦 · 门控 · 双时间尺度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每个模块对应可命名故障，避免「一个大网包打天下」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Microsoft YaHei"/>
                <a:ea typeface="Microsoft YaHei"/>
              </a:rPr>
              <a:t>解耦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StageNet=姿态；FACN=并发油门；PGCP=廊道红绿灯。姿态错误导致进廊时机错；并发错误导致闲置或洪水——两者正交，分开学、分开关。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Microsoft YaHei"/>
                <a:ea typeface="Microsoft YaHei"/>
              </a:rPr>
              <a:t>门控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ASA 决定是否信任 StageNet；AFA 决定是否允许 Δ ≠ 0；FG-CEBI/E4 仅在几何条件满足时启用。评委可问「此刻为何听网络」。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Microsoft YaHei"/>
                <a:ea typeface="Microsoft YaHei"/>
              </a:rPr>
              <a:t>双尺度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Meeting TTL≈16 发慢契约；tick 级 Gap/Egress 快修补；FACN TTL=36/PERIOD=24 防 K 抖动。进度停滞可强制开会并加宽窗 W:16→28。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§4.1 Meeting 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会前 → 触发 → 输入 → 内部过程 → 输出 → 回归会间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h-fig-mee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Meeting：触发条件与输入/输出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should_meet + solve 强制条件；输出可执行契约而非自然语言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关键阈值/字段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会前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Follow 既有 StageContract；tick 级 egress/contested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ttl=16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触发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周期 / stall 强制 / dense·sparse no_prog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MEET_H=12; stall≥24; n≥12∧gap≥4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输入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位姿、载货、目标、stall、冲突热、near_pad_deg2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全局可观察状态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过程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StageNet/teacher→区域准入→窗PP→repair→legalize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W∈{16,28}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stages, priorities, commits, contracts, desired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waypoints[:6], exclusive_pad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回归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Follow + Gap；事件触发 PGFA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stall≥25 / streak≥12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Meeting 内部过程与会间修补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run_meeting 十步 + 会间三机制（合并叙述）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①–②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BFS path_cache；StageNet/teacher（ASA 已定 use_net）批量选阶段。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③–④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region_admit 软准入；装配 stage_goals 与优先级（holder/egress boost）。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⑤–⑥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contested-dest 改写同 dest；pad-egress（含 FG-CEBI / E4 sticky）。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⑦–⑧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plan_committed(horizon=W)；window_repair 修窗内冲突。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⑨–⑩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DLO legalize（仅 10≤n≤14）；签发 StageContract(ttl=16)。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会间 Follow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：优先走 commit 头，否则朝下一 waypoint。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Gap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：低优先挡高优先 next cell → 侧移让路。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PGFA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：单焦点受益人清 BFS 前缀；防止无条件互让死锁。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注意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：FACN 的 K 在 tick 环事件更新，不在会议函数内——但影响后续 claim 集合。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822960"/>
            <a:ext cx="5212080" cy="51206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</a:rPr>
              <a:t>协商到底在争什么？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每车以何姿态接近目标（FINAL/APP/CLEAR）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相对优先级（谁先过廊）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未来 W 步内时空承诺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同 dest 谁持有 exclusive_pad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空载/卸后如何清喉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§4.2 协议工具总览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下一页起逐项写清：触发 / 改什么 / 防什么 / 不做什么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h-fig-protoco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协议栈怎么叠在一起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near = 卸货点半径 6 内、度数≤2 的可行走格数（喉道拥挤代理量）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PGCP（Progress-Gated Corridor Protocol）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：廊道协议伞名。下面挂 Contested-dest、Pad-egress（含 FG-CEBI / E4）、Progress-pulse、空载卫生等——不是单一开关。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几何先决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：开局用 (n, near) 定 ASA（用不用 StageNet）与 Multi-Band TBC（基础并发 K0）；运行中 AFA 裁剪 FACN 的 Δ，得到有效 K。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每 tick 必跑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：Pad-egress（+条件 FG-CEBI/E4）与 Contested-dest——开会不开会都改写目标/清喉。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仅会议内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：StageNet/teacher → region_admit → 窗 PP → DLO legalize → 签发契约。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卡住时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：Progress-pulse（短时降 K、加窗、更勤开会）+ PGFA（只服务一个焦点受益人清廊）。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消融事实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：关掉 PGCP 套件后 SH10/11/12/17 完成率显著下降——协议与网络同等关键，不是装饰。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共同约束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：无 map-id 特判；条件只用几何与可观察状态。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15/29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协议详解：ASA · Multi-Band TBC · AFA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决定「信不信网络」与「基础允许多少车忙」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ASA — Adaptive Stage Authority
自适应阶段权威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：开局用 (n, near) 决定会议里姿态由 StageNet 还是 goal-flow teacher 产生。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触发（定一次）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：n∈[10,14]→用网；多数 n≤9→teacher（除非 near≥90 等特判）；n==18→teacher；其余默认用网。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：StageSelector(use_net=…)。只影响 FINAL/APPROACH/CLEAR 来源。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：小车队盲用网络噪声；部分中队盲用 teacher 打不开死锁。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：不改 K、路径、任务分配；可被 --force/--no-stage-net 覆盖。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Multi-Band TBC — Throat-Band Capacity
多带喉道容量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：按车队规模与喉道几何给静态基础并发 K0（max_fleet_busy）。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：默认 K=6；mid(n∈[10,14]∧near∈[55,85])→5；dense(n∈[16,18]∧near∈[80,90])→5；mega(n≥28)→≥7。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：claim 时 busy 上限初值；也是 FACN 的 k_tbc 基准。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：中等喉道上固定 K=6 过挤；超大车队过保守。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：不改单车目标/优先级/路径；运行中变 K 靠 FACN/pulse，不靠 TBC 自己每 tick 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AFA — Adaptive FACN Authority
自适应 FACN 权威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：几何裁剪 FACN 输出的 Δ，防止乱升/乱降并发。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：仅当 n&gt;k_tbc（有闲车）才挂 FACN；升幅随 near 封顶（≤40→+4，≤70→+2，否则+1；n≤12 默认不升除非 oracle）；降须 throat/same_dest 拥堵且 stall/no_prog。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：Δ∈{−2..+4} 被裁剪后 K=clip(k_tbc+Δ)。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：小车队乱抬；无结构拥堵猛降导致饿死螺旋（如 SH39）。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：不选哪辆车、不选路径/阶段；只约束油门。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16/29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协议详解：Contested-dest · Pad-egress · FG-CEBI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同站对顶与「先出后进」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Contested-dest
竞争目的地闸门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：多辆载货挤同一卸货站时，只保留一名 holder 进站，其余改道等待。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：同站≥2 载货，且≥2 车到任一 pad 的 Manh≤6。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：选 holder（近 pad；锁 TTL=48；streak≥48 可换人）；非 holder 目标改到最近 deg≥3，禁入站 pad、deg≤2 廊、各方前缀末 4 格；holder 优先级 +3e5。每 tick+会议都跑。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：多车冲同一窄卸点导致廊内对顶/互卡。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：不改任务身份（仍 TO_DROP）；远车(&gt;6)不拦；不管「已在廊内空载挡路」（那是 Pad-egress）。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Pad-egress
垫点先出后进（基础层）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：空载/刚卸完堵在卸货格或 deg≤2 喉上时，强制先撤出到 deg≥3，再让载货进入。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：空载在卸货格/同站 sibling pad/压力廊内；刚卸 soft leave；进展陈旧时邻接占垫。每 tick+会议。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：空载目标→最近 deg≥3，优先级可抬到 EGRESS_PRI=5e7；必要时把路上正朝该廊挤入的载货目标改到廊外等待（不降其承运角色优先级）。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：卸完空车堵喉，迎面载货进不去（egress↔ingress 对顶）。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：不做跨目的地廊并集；不默认全图 sticky（E4 另开）。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FG-CEBI
车队门控廊道先出后进（E2）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：极端喉道上，对「最短路穿过正在外撤廊」的外面载货做廊锁——只改其阶段目标到廊外。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：n≥10 ∧ near≥100，且廊上有 egressor，载货不在廊上但其到 pad 最短路穿过该廊。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：改写该载货 stage/motion 目标到廊外 deg≥3（或外推一步）；不改优先级角色。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：外面车仍沿最短路挤进正在清廊的极端喉道（SH08/19 类）。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：n&lt;10 或 near&lt;100 不启；不覆盖中度喉/脆弱小车队；不是完整 E1–E5 状态机。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17/29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协议详解：E4 sticky · Progress-pulse · PGFA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卸后粘性外撤、进展脉冲、焦点利他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E4 sticky — CEBI E4 SHARP-lite
卸后粘性外撤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：大车队中度喉上，卸完若仍停在 deg≤2，则持续强制外撤，不必再等「有人要进来」才推。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：n≥19 ∧ near∈[70,85]；记住 last_unload_pad，车还在 deg≤2 则不清除记忆→持续 egress。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：刚卸空载进入强制 egress（非 soft），最高优先撤到 deg≥3。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：卸完停在终点/喉内导致反复对顶（SH12 类）。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：无门控全图 sticky（会崩 SH02/08/11/15/17）；不做固定 Haven 预留。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Progress-pulse
进展势 + 忙碌脉冲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：任务进展冻结时，短时降并发并更勤重规划，松绑廊道僵局。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 no_prog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：存在 contested，且 done 停滞≥120（n≥16 时 80）或载货 ΣManh 停滞≥70（n≥16 时 50），且载货≥2。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：n≥12 时 busy_pulse_left=28，期间 fleet_cap=min(base,3)；可缩短开会间隔、把会议窗 W 从 16 加到 28。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：完成数与 Manh 冻结的密队 livelock。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：n&lt;12 不降 K（防饿死接近车）；不是永久降 cap；不单独改目标几何。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PGFA — Progress-Gated Focal Altruism
进展门控焦点利他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：卡住时只服务一个焦点受益人——清开其 BFS 前缀上的挡路车，避免全员互让。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：剩余任务≤5，或 stall≥25，或任一载货 blocked_streak≥12。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：焦点优先 egress 空载 &gt; contested holder &gt; 最近目标载货；焦点 pri+1e7；挡路空载侧移/外推并可 park_freeze=24；无进展达阈值才换焦点。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：无条件全员让路导致互让/抖振死锁（SH03/11/17）。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：不为所有 busy 清廊并集；非焦点载货之间不互让。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18/29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协议详解：DLO · region_admit ·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合法化次序与区域软准入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DLO — Dual Lexicographic Order
双字典序合法化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：多人抢同一格时，试两种破同分次序，选让载货总曼哈顿更小的那种。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：legalize_desired 内，仅当 10≤n≤14 且载货≥2。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：比较 (−pri, name) 与 (−pri, Manh到目标, name) 两种顶点占用序；并剥边交换、禁非法格。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：中队上 PYTHONHASHSEED/名字序吸引子造成的次优抢格抖动。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：不改 stage 目标与任务；n 不在 [10,14] 时退回单序。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region_admit
区域软容量准入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：会议里防止过多车以 FINAL 姿态挤进同一 5×5 瓦片。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触发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：每次 meeting，StageNet 出选择之后；cap=clamp(区域内空闲格/8, 2, 5)。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改什么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：按 −pri 排序；非保护角色的工作 FINAL 若区域已满→降为 CLEAR/YIELD，目标改到路径近端；会议中硬保护主要是 TO_DROP。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防什么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：多车 FINAL 挤同一瓦片造成动脉堵塞。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不做什么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：不限制同 unload 前缀载货数；IDLE/CLEAR 等不占 work-cap；不是全局舰队硬 cap（那是 TBC/FACN）。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记住边界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FACN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：只调「多少车可 busy」，不选哪辆。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StageNet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：只选姿态+优先级，不直接输出逐步动作。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协议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：改目标/优先级/K/合法化次序——用可观察几何触发。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窗 PP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：在会议内生成有限 horizon 承诺，不是完备 CBS。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消融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：PGCP 套件与 StageNet 对完成率最关键；FACN 对开阔图 sim 最关键。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19/29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§4.3 StageNet：结构与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左栏写明 agent 8 维；下一页表格再列一遍 + 消融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h-fig-stage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20/29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StageNet：8 维状态、ASA 与消融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特征写全；关掉网络后难图完成率崩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符号/含义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归一化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1–2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当前格 cur_x, cur_y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/ GRID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3–4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最终目标 final_x, final_y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/ GRID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到目标曼哈顿距离 manh(cur,final)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/ (2·GRID)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载货/指派：loaded=1, assigned=0.5, 空闲=0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离散编码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卡住 streak（blocked_streak）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min(streak/40,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区域占用 region_occ + 0.25·冲突热 heat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截断到 [0,1+]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976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Microsoft YaHei"/>
                <a:ea typeface="Microsoft YaHei"/>
              </a:rPr>
              <a:t>• 候选 ∈ R¹⁰</a:t>
            </a: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：候选格 xy、到车/到终点 Manh、kind、是否 FINAL/CLEAR、stay、是否占用、边代价+区域占用。K=4：FINAL / APP@1/3 / APP@2/3 / CLEAR。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Microsoft YaHei"/>
                <a:ea typeface="Microsoft YaHei"/>
              </a:rPr>
              <a:t>• 消融</a:t>
            </a: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：no_stagenet → SH10 done=60*，SH17=32*；ASA 按 (n,near) 在 net↔teacher 间切换。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21/29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§4.3 FACN：结构与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静态+动态 22 维 → Δ 分类 → 修正车队并发 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h-fig-fac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22/29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FACN：控制对象、AFA 与效果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主创新：学「允许多少车忙碌」，而非「走哪条边」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控制对象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：仅 effective_fleet_cap（claim/max_assigned）；K = clip(K_TBC + Δ)，Δ ∈ {−2..+4}。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粘滞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：TTL=36，PERIOD=24，MIN_GAP=12；AFA 限制 raise/lower/attach。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训练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：离线扫 K* 得 Δ* = K* − K_TBC，CrossEntropy 行为克隆。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291840"/>
          <a:ext cx="114601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 sim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better/same/worse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GATE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noFACN → FACN v2 (SH01–40)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1579.7 → 1487.8 (−5.82%)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 / 13 /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813 → 660 (−153)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K:7→10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主案例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1036 → 602 (−434)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K→10 Δ=+4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大增益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23/29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§5 实验设置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SH01–20 官方 100 任务对照；复现设定固定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地图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：SH01–20 压力图（车队规模、开阔/喉道比异构）；扩展评测含 SH21–40。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任务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：每图约 100 个 lifelong 取卸任务。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指标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：VALID；full100；avg_done；avg_sim；avg_wall。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复现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：PYTHONHASHSEED=0；CPU；每图子进程隔离。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基线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：PIBT、M0（时空 A*）、PP、窗口 ECBS、Hier(M0↔ECBS)。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本文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：Meeting-RH + 协议栈 + StageNet（ASA）+ FACN（AFA）。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24/29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主结果：完成率 · sim · wall（SH01–20）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同一任务集；全部报告 VALID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29"/>
                <a:gridCol w="1910029"/>
                <a:gridCol w="1910029"/>
                <a:gridCol w="1910029"/>
                <a:gridCol w="1910029"/>
                <a:gridCol w="1910029"/>
              </a:tblGrid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full100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VALID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avg_done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avg_sim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avg_wall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PIBT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62811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40.5s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M0 时空A*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44.6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942†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1478s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848†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1716s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ECBS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7364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543s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1032s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Ours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1708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~28s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94960"/>
            <a:ext cx="11460175" cy="7772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</a:rPr>
              <a:t>† 未完成图的 sim 不能解释为更快。Ours：在 VALID∧full100 前提下，sim 约为 Hier 的 42%，wall 低 1–2 个数量级。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为什么当前方法最好？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在 VALID∧full100 可行集上同时优化 sim 与 wall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相对 PIBT/M0/PP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：它们无法在多数图上 full100 或 VALID 不稳；「更快的 sim」来自提前失败，没有比较意义。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相对 ECBS/Hier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：三者都能 20/20 full100，但 ECBS avg_sim=7364、wall≈543s；Hier sim≈4018、wall≈1032s。Ours sim≈1708、wall≈28s——在同一正确性水平上显著更优。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机制解释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：Meeting 只在慢变量上花费窗 PP；会间用契约+局部修补，避免每步完备搜索；FACN 在开阔图抬 K 减少闲置；协议栈消除窄廊死锁。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Pareto 意义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：Ours 位于「高完成率」子集的左下角（低 sim、低 wall），而非牺牲 VALID 换速度。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增量证据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：相对旧 FULL 协议栈 avg_sim −9.0%（0 劣图）；FACN v2 再 −5.82%（GATE PASS）。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26/29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组件消融与 SH20 案例（合并）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完成率证据 + 并发油门证据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组件关闭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典型后果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解释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no_pgcp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SH10=46, SH12=45, SH11=54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廊门套件最关键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no_stagenet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SH10=60, SH17=32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难图姿态头必要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no_pgfa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SH17=20; SH03 sim 翻倍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互让死锁/空转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noFACN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SH20:660→813 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开阔图吞吐损失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97680"/>
            <a:ext cx="11460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SH20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：n≈30，TBC≈7 → 闲置池巨大；FACN 抬到 K≈10，sim 813→660。说明最大杠杆常是运营并发，而非微观边权。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27/29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局限与结论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诚实边界 + 可带走的主张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局限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：超难图仍可能压力大；FACN 跨图 held-out 泛化有差距；协议栈有维护成本；不宣称相对 ECBS 的完备最优。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结论 1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：Lifelong MAPD 适合双时间尺度——Meeting 协商慢变量，tick 修补快冲突。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结论 2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：有效 AI = StageNet（姿态）+ FACN（油门）+ 几何门控协议；可用消融逐项证明。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结论 3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：在 VALID∧full100 前提下，本文方法同时取得更低 sim 与更低 wall，位于实用 Pareto 前沿。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结论 4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：会议触发/输入/输出均可审计——可解释性内生于模块边界，而非事后解释。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28/29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365D"/>
                </a:solidFill>
                <a:latin typeface="Microsoft YaHei"/>
                <a:ea typeface="Microsoft YaHei"/>
              </a:rPr>
              <a:t>谢谢 ·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6CB0"/>
                </a:solidFill>
                <a:latin typeface="Microsoft YaHei"/>
                <a:ea typeface="Microsoft YaHei"/>
              </a:rPr>
              <a:t>Meeting-RH × StageNet × FACN × Geometry-gated Protocols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29/29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