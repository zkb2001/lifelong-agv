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gif" ContentType="image/gi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87" r:id="rId4"/>
    <p:sldId id="258" r:id="rId5"/>
    <p:sldId id="284" r:id="rId6"/>
    <p:sldId id="283" r:id="rId7"/>
    <p:sldId id="286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338FC2-C0CB-45EC-8C30-07CA43760F3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EA0DCCE-8628-469A-AA1B-AD6501D4AB76}">
      <dgm:prSet custT="1"/>
      <dgm:spPr/>
      <dgm:t>
        <a:bodyPr/>
        <a:lstStyle/>
        <a:p>
          <a:r>
            <a:rPr lang="en-US" sz="2000" b="1" dirty="0">
              <a:solidFill>
                <a:schemeClr val="accent2">
                  <a:lumMod val="50000"/>
                </a:schemeClr>
              </a:solidFill>
            </a:rPr>
            <a:t>5.4 Future Improvements</a:t>
          </a:r>
          <a:endParaRPr lang="en-US" sz="2000" dirty="0">
            <a:solidFill>
              <a:schemeClr val="accent2">
                <a:lumMod val="50000"/>
              </a:schemeClr>
            </a:solidFill>
          </a:endParaRPr>
        </a:p>
      </dgm:t>
    </dgm:pt>
    <dgm:pt modelId="{15BC0C69-B269-455C-B6C1-F1DEDA2CCEA3}" cxnId="{591176E9-3C32-48D3-BB34-7F608AEB1DFF}" type="parTrans">
      <dgm:prSet/>
      <dgm:spPr/>
      <dgm:t>
        <a:bodyPr/>
        <a:lstStyle/>
        <a:p>
          <a:endParaRPr lang="en-US"/>
        </a:p>
      </dgm:t>
    </dgm:pt>
    <dgm:pt modelId="{FC63FF10-752C-43F6-9B25-569E106C6689}" cxnId="{591176E9-3C32-48D3-BB34-7F608AEB1DFF}" type="sibTrans">
      <dgm:prSet/>
      <dgm:spPr/>
      <dgm:t>
        <a:bodyPr/>
        <a:lstStyle/>
        <a:p>
          <a:endParaRPr lang="en-US"/>
        </a:p>
      </dgm:t>
    </dgm:pt>
    <dgm:pt modelId="{C6D58774-A266-45C2-BABF-7DF2C31B822B}">
      <dgm:prSet custT="1"/>
      <dgm:spPr/>
      <dgm:t>
        <a:bodyPr/>
        <a:lstStyle/>
        <a:p>
          <a:r>
            <a:rPr lang="en-US" sz="1600" b="1" dirty="0"/>
            <a:t>Advanced Pathfinding</a:t>
          </a:r>
          <a:r>
            <a:rPr lang="en-US" sz="1600" dirty="0"/>
            <a:t>: Implement more sophisticated MAPF algorithms (e.g., Conflict-Based Search, Push and Swap) for better scalability</a:t>
          </a:r>
        </a:p>
      </dgm:t>
    </dgm:pt>
    <dgm:pt modelId="{F9E67144-D08C-42E8-A4F2-9C1766F0FA1A}" cxnId="{DF9F9AB9-28CF-4A76-9B11-AF1758E251C7}" type="parTrans">
      <dgm:prSet/>
      <dgm:spPr/>
      <dgm:t>
        <a:bodyPr/>
        <a:lstStyle/>
        <a:p>
          <a:endParaRPr lang="en-US"/>
        </a:p>
      </dgm:t>
    </dgm:pt>
    <dgm:pt modelId="{FF3F1A79-77D5-43E1-8630-DC398AA8F9FF}" cxnId="{DF9F9AB9-28CF-4A76-9B11-AF1758E251C7}" type="sibTrans">
      <dgm:prSet/>
      <dgm:spPr/>
      <dgm:t>
        <a:bodyPr/>
        <a:lstStyle/>
        <a:p>
          <a:endParaRPr lang="en-US"/>
        </a:p>
      </dgm:t>
    </dgm:pt>
    <dgm:pt modelId="{2D0D2B27-4FDF-41F7-B0D2-431781A6AA88}">
      <dgm:prSet custT="1"/>
      <dgm:spPr/>
      <dgm:t>
        <a:bodyPr/>
        <a:lstStyle/>
        <a:p>
          <a:r>
            <a:rPr lang="en-US" sz="1600" b="1" dirty="0"/>
            <a:t>Optimization-Based Task Allocation</a:t>
          </a:r>
          <a:r>
            <a:rPr lang="en-US" sz="1600" dirty="0"/>
            <a:t>: Replace greedy allocation with optimization algorithms (e.g., linear programming, constraint programming) for global optimality</a:t>
          </a:r>
        </a:p>
      </dgm:t>
    </dgm:pt>
    <dgm:pt modelId="{A8C78F35-FA1E-46C5-9CC9-98DF9E5B1861}" cxnId="{EC140A83-9FCB-4FE2-A4BE-516F2A9C2CFA}" type="parTrans">
      <dgm:prSet/>
      <dgm:spPr/>
      <dgm:t>
        <a:bodyPr/>
        <a:lstStyle/>
        <a:p>
          <a:endParaRPr lang="en-US"/>
        </a:p>
      </dgm:t>
    </dgm:pt>
    <dgm:pt modelId="{6FE41E39-008A-45CB-B21E-20D4F5986289}" cxnId="{EC140A83-9FCB-4FE2-A4BE-516F2A9C2CFA}" type="sibTrans">
      <dgm:prSet/>
      <dgm:spPr/>
      <dgm:t>
        <a:bodyPr/>
        <a:lstStyle/>
        <a:p>
          <a:endParaRPr lang="en-US"/>
        </a:p>
      </dgm:t>
    </dgm:pt>
    <dgm:pt modelId="{C9AD12A2-4FF8-4E84-9E90-37CDA875B763}">
      <dgm:prSet custT="1"/>
      <dgm:spPr/>
      <dgm:t>
        <a:bodyPr/>
        <a:lstStyle/>
        <a:p>
          <a:r>
            <a:rPr lang="en-US" sz="1600" b="1" dirty="0"/>
            <a:t>Dynamic Replanning</a:t>
          </a:r>
          <a:r>
            <a:rPr lang="en-US" sz="1600" dirty="0"/>
            <a:t>: Add capability to replan paths when new information becomes available or when conflicts are detected</a:t>
          </a:r>
        </a:p>
      </dgm:t>
    </dgm:pt>
    <dgm:pt modelId="{3D71EF27-3FE1-4455-9125-EB610E474A32}" cxnId="{3D225A4E-7233-4748-AD71-3386AFBB3B55}" type="parTrans">
      <dgm:prSet/>
      <dgm:spPr/>
      <dgm:t>
        <a:bodyPr/>
        <a:lstStyle/>
        <a:p>
          <a:endParaRPr lang="en-US"/>
        </a:p>
      </dgm:t>
    </dgm:pt>
    <dgm:pt modelId="{EB4CA627-66D4-41B4-BC16-F2E915C36A85}" cxnId="{3D225A4E-7233-4748-AD71-3386AFBB3B55}" type="sibTrans">
      <dgm:prSet/>
      <dgm:spPr/>
      <dgm:t>
        <a:bodyPr/>
        <a:lstStyle/>
        <a:p>
          <a:endParaRPr lang="en-US"/>
        </a:p>
      </dgm:t>
    </dgm:pt>
    <dgm:pt modelId="{1F1C89B8-5946-4F92-A4E2-F9C36898A945}">
      <dgm:prSet custT="1"/>
      <dgm:spPr/>
      <dgm:t>
        <a:bodyPr/>
        <a:lstStyle/>
        <a:p>
          <a:r>
            <a:rPr lang="en-US" sz="1600" b="1" dirty="0"/>
            <a:t>Real-time Adaptation</a:t>
          </a:r>
          <a:r>
            <a:rPr lang="en-US" sz="1600" dirty="0"/>
            <a:t>: Implement mechanisms to handle dynamic obstacles and changing warehouse conditions</a:t>
          </a:r>
        </a:p>
      </dgm:t>
    </dgm:pt>
    <dgm:pt modelId="{EFC63FDF-7826-402D-B545-3D930692A744}" cxnId="{E51F954A-D431-4074-87A3-ACC58345FE41}" type="parTrans">
      <dgm:prSet/>
      <dgm:spPr/>
      <dgm:t>
        <a:bodyPr/>
        <a:lstStyle/>
        <a:p>
          <a:endParaRPr lang="en-US"/>
        </a:p>
      </dgm:t>
    </dgm:pt>
    <dgm:pt modelId="{23C91D9B-EBB5-4180-AADC-840F353B734B}" cxnId="{E51F954A-D431-4074-87A3-ACC58345FE41}" type="sibTrans">
      <dgm:prSet/>
      <dgm:spPr/>
      <dgm:t>
        <a:bodyPr/>
        <a:lstStyle/>
        <a:p>
          <a:endParaRPr lang="en-US"/>
        </a:p>
      </dgm:t>
    </dgm:pt>
    <dgm:pt modelId="{C9FCD9D1-D3DE-442F-90A6-996E87A7386F}">
      <dgm:prSet custT="1"/>
      <dgm:spPr/>
      <dgm:t>
        <a:bodyPr/>
        <a:lstStyle/>
        <a:p>
          <a:r>
            <a:rPr lang="en-US" sz="1600" b="1" dirty="0"/>
            <a:t>Performance Metrics</a:t>
          </a:r>
          <a:r>
            <a:rPr lang="en-US" sz="1600" dirty="0"/>
            <a:t>: Add comprehensive metrics (throughput, </a:t>
          </a:r>
          <a:r>
            <a:rPr lang="en-US" sz="1600" dirty="0" err="1"/>
            <a:t>makespan</a:t>
          </a:r>
          <a:r>
            <a:rPr lang="en-US" sz="1600" dirty="0"/>
            <a:t>, AGV utilization) and compare against baseline algorithms</a:t>
          </a:r>
        </a:p>
      </dgm:t>
    </dgm:pt>
    <dgm:pt modelId="{59053E63-3E69-4DDF-8107-010259B1754C}" cxnId="{7B13C789-5999-436B-9A9C-DB24A95D851E}" type="parTrans">
      <dgm:prSet/>
      <dgm:spPr/>
      <dgm:t>
        <a:bodyPr/>
        <a:lstStyle/>
        <a:p>
          <a:endParaRPr lang="en-US"/>
        </a:p>
      </dgm:t>
    </dgm:pt>
    <dgm:pt modelId="{6CB8F4FA-6EAC-4913-83EF-F3693FEBDAF2}" cxnId="{7B13C789-5999-436B-9A9C-DB24A95D851E}" type="sibTrans">
      <dgm:prSet/>
      <dgm:spPr/>
      <dgm:t>
        <a:bodyPr/>
        <a:lstStyle/>
        <a:p>
          <a:endParaRPr lang="en-US"/>
        </a:p>
      </dgm:t>
    </dgm:pt>
    <dgm:pt modelId="{0C9A85C5-1E3F-49C0-8D8B-4F4E4B684821}">
      <dgm:prSet custT="1"/>
      <dgm:spPr/>
      <dgm:t>
        <a:bodyPr/>
        <a:lstStyle/>
        <a:p>
          <a:r>
            <a:rPr lang="en-US" sz="1600" b="1" dirty="0"/>
            <a:t>Machine Learning Integration</a:t>
          </a:r>
          <a:r>
            <a:rPr lang="en-US" sz="1600" dirty="0"/>
            <a:t>: Explore using reinforcement learning for adaptive task allocation and path planning</a:t>
          </a:r>
        </a:p>
      </dgm:t>
    </dgm:pt>
    <dgm:pt modelId="{26A992DC-A218-4136-859B-7AF79C961FD6}" cxnId="{9F1F3724-3C2D-4476-A6AD-AF016664F481}" type="parTrans">
      <dgm:prSet/>
      <dgm:spPr/>
      <dgm:t>
        <a:bodyPr/>
        <a:lstStyle/>
        <a:p>
          <a:endParaRPr lang="en-US"/>
        </a:p>
      </dgm:t>
    </dgm:pt>
    <dgm:pt modelId="{BC0E6075-A966-4732-B0BC-3FB3CFD288E8}" cxnId="{9F1F3724-3C2D-4476-A6AD-AF016664F481}" type="sibTrans">
      <dgm:prSet/>
      <dgm:spPr/>
      <dgm:t>
        <a:bodyPr/>
        <a:lstStyle/>
        <a:p>
          <a:endParaRPr lang="en-US"/>
        </a:p>
      </dgm:t>
    </dgm:pt>
    <dgm:pt modelId="{D8DF3C54-11C9-4C67-84B7-5606385B14C9}">
      <dgm:prSet custT="1"/>
      <dgm:spPr/>
      <dgm:t>
        <a:bodyPr/>
        <a:lstStyle/>
        <a:p>
          <a:r>
            <a:rPr lang="en-US" sz="1600" b="1" dirty="0"/>
            <a:t>3D Visualization</a:t>
          </a:r>
          <a:r>
            <a:rPr lang="en-US" sz="1600" dirty="0"/>
            <a:t>: Enhance visualization to show AGV orientations, cargo states, and temporal evolution more clearly</a:t>
          </a:r>
        </a:p>
      </dgm:t>
    </dgm:pt>
    <dgm:pt modelId="{DE0DE740-FFD5-4338-9D0D-F42BC1E4FB47}" cxnId="{6FC6EECF-AB9A-42AE-8D56-546C89F112C0}" type="parTrans">
      <dgm:prSet/>
      <dgm:spPr/>
      <dgm:t>
        <a:bodyPr/>
        <a:lstStyle/>
        <a:p>
          <a:endParaRPr lang="en-US"/>
        </a:p>
      </dgm:t>
    </dgm:pt>
    <dgm:pt modelId="{F33003CB-63F5-4B98-8971-1F48A5C42466}" cxnId="{6FC6EECF-AB9A-42AE-8D56-546C89F112C0}" type="sibTrans">
      <dgm:prSet/>
      <dgm:spPr/>
      <dgm:t>
        <a:bodyPr/>
        <a:lstStyle/>
        <a:p>
          <a:endParaRPr lang="en-US"/>
        </a:p>
      </dgm:t>
    </dgm:pt>
    <dgm:pt modelId="{6E98E291-CD1B-43D6-9F05-7E6B798F9D91}" type="pres">
      <dgm:prSet presAssocID="{9D338FC2-C0CB-45EC-8C30-07CA43760F3A}" presName="vert0" presStyleCnt="0">
        <dgm:presLayoutVars>
          <dgm:dir/>
          <dgm:animOne val="branch"/>
          <dgm:animLvl val="lvl"/>
        </dgm:presLayoutVars>
      </dgm:prSet>
      <dgm:spPr/>
    </dgm:pt>
    <dgm:pt modelId="{17F634BF-93E5-40FE-B42B-9289F60CA4CF}" type="pres">
      <dgm:prSet presAssocID="{DEA0DCCE-8628-469A-AA1B-AD6501D4AB76}" presName="thickLine" presStyleLbl="alignNode1" presStyleIdx="0" presStyleCnt="8"/>
      <dgm:spPr/>
    </dgm:pt>
    <dgm:pt modelId="{EB3931A1-5781-4ED3-BE45-D3506DBE153D}" type="pres">
      <dgm:prSet presAssocID="{DEA0DCCE-8628-469A-AA1B-AD6501D4AB76}" presName="horz1" presStyleCnt="0"/>
      <dgm:spPr/>
    </dgm:pt>
    <dgm:pt modelId="{0C7C4116-04B8-4BE1-85DE-E273220610B0}" type="pres">
      <dgm:prSet presAssocID="{DEA0DCCE-8628-469A-AA1B-AD6501D4AB76}" presName="tx1" presStyleLbl="revTx" presStyleIdx="0" presStyleCnt="8"/>
      <dgm:spPr/>
    </dgm:pt>
    <dgm:pt modelId="{1B689980-0C05-4531-BE10-98276DA74327}" type="pres">
      <dgm:prSet presAssocID="{DEA0DCCE-8628-469A-AA1B-AD6501D4AB76}" presName="vert1" presStyleCnt="0"/>
      <dgm:spPr/>
    </dgm:pt>
    <dgm:pt modelId="{9D82935B-D26A-46E1-BFC6-D267EBC96D1A}" type="pres">
      <dgm:prSet presAssocID="{C6D58774-A266-45C2-BABF-7DF2C31B822B}" presName="thickLine" presStyleLbl="alignNode1" presStyleIdx="1" presStyleCnt="8"/>
      <dgm:spPr/>
    </dgm:pt>
    <dgm:pt modelId="{BAC7128D-9FD3-4D3E-8AC2-F9F3CCA6BD14}" type="pres">
      <dgm:prSet presAssocID="{C6D58774-A266-45C2-BABF-7DF2C31B822B}" presName="horz1" presStyleCnt="0"/>
      <dgm:spPr/>
    </dgm:pt>
    <dgm:pt modelId="{9E28A379-AF38-43DB-8E58-74D4FD4DDFEB}" type="pres">
      <dgm:prSet presAssocID="{C6D58774-A266-45C2-BABF-7DF2C31B822B}" presName="tx1" presStyleLbl="revTx" presStyleIdx="1" presStyleCnt="8"/>
      <dgm:spPr/>
    </dgm:pt>
    <dgm:pt modelId="{022A8598-BCF3-475B-B923-A9EFFA0EC152}" type="pres">
      <dgm:prSet presAssocID="{C6D58774-A266-45C2-BABF-7DF2C31B822B}" presName="vert1" presStyleCnt="0"/>
      <dgm:spPr/>
    </dgm:pt>
    <dgm:pt modelId="{74ECB1E6-6442-4031-A952-C642264A8533}" type="pres">
      <dgm:prSet presAssocID="{2D0D2B27-4FDF-41F7-B0D2-431781A6AA88}" presName="thickLine" presStyleLbl="alignNode1" presStyleIdx="2" presStyleCnt="8"/>
      <dgm:spPr/>
    </dgm:pt>
    <dgm:pt modelId="{3822CB51-1B6A-4D84-A4A3-3D68E0CA5092}" type="pres">
      <dgm:prSet presAssocID="{2D0D2B27-4FDF-41F7-B0D2-431781A6AA88}" presName="horz1" presStyleCnt="0"/>
      <dgm:spPr/>
    </dgm:pt>
    <dgm:pt modelId="{6795E845-EEA5-4EE0-9F87-39E08F206829}" type="pres">
      <dgm:prSet presAssocID="{2D0D2B27-4FDF-41F7-B0D2-431781A6AA88}" presName="tx1" presStyleLbl="revTx" presStyleIdx="2" presStyleCnt="8"/>
      <dgm:spPr/>
    </dgm:pt>
    <dgm:pt modelId="{C87839E6-B4BA-4DD2-8498-0131D08BB1E7}" type="pres">
      <dgm:prSet presAssocID="{2D0D2B27-4FDF-41F7-B0D2-431781A6AA88}" presName="vert1" presStyleCnt="0"/>
      <dgm:spPr/>
    </dgm:pt>
    <dgm:pt modelId="{0E9DAA54-B110-4C96-BE0C-4556C4805DEE}" type="pres">
      <dgm:prSet presAssocID="{C9AD12A2-4FF8-4E84-9E90-37CDA875B763}" presName="thickLine" presStyleLbl="alignNode1" presStyleIdx="3" presStyleCnt="8"/>
      <dgm:spPr/>
    </dgm:pt>
    <dgm:pt modelId="{57F15252-F46A-49A6-B036-1C8DD6383547}" type="pres">
      <dgm:prSet presAssocID="{C9AD12A2-4FF8-4E84-9E90-37CDA875B763}" presName="horz1" presStyleCnt="0"/>
      <dgm:spPr/>
    </dgm:pt>
    <dgm:pt modelId="{161F5C2A-EAA4-4840-9F4B-7324AC0498AA}" type="pres">
      <dgm:prSet presAssocID="{C9AD12A2-4FF8-4E84-9E90-37CDA875B763}" presName="tx1" presStyleLbl="revTx" presStyleIdx="3" presStyleCnt="8"/>
      <dgm:spPr/>
    </dgm:pt>
    <dgm:pt modelId="{990BF663-6C92-4E7F-80A1-E3D9A5FF8B4C}" type="pres">
      <dgm:prSet presAssocID="{C9AD12A2-4FF8-4E84-9E90-37CDA875B763}" presName="vert1" presStyleCnt="0"/>
      <dgm:spPr/>
    </dgm:pt>
    <dgm:pt modelId="{004B7BC3-4C75-4CA9-8425-DAED28874CF8}" type="pres">
      <dgm:prSet presAssocID="{1F1C89B8-5946-4F92-A4E2-F9C36898A945}" presName="thickLine" presStyleLbl="alignNode1" presStyleIdx="4" presStyleCnt="8"/>
      <dgm:spPr/>
    </dgm:pt>
    <dgm:pt modelId="{D575E054-892B-4528-A74A-6FE6772B297B}" type="pres">
      <dgm:prSet presAssocID="{1F1C89B8-5946-4F92-A4E2-F9C36898A945}" presName="horz1" presStyleCnt="0"/>
      <dgm:spPr/>
    </dgm:pt>
    <dgm:pt modelId="{9FBA6840-DCF3-414C-9C22-41B37AF26FD7}" type="pres">
      <dgm:prSet presAssocID="{1F1C89B8-5946-4F92-A4E2-F9C36898A945}" presName="tx1" presStyleLbl="revTx" presStyleIdx="4" presStyleCnt="8"/>
      <dgm:spPr/>
    </dgm:pt>
    <dgm:pt modelId="{6394AA3C-A572-4C03-ABE4-1BE987875355}" type="pres">
      <dgm:prSet presAssocID="{1F1C89B8-5946-4F92-A4E2-F9C36898A945}" presName="vert1" presStyleCnt="0"/>
      <dgm:spPr/>
    </dgm:pt>
    <dgm:pt modelId="{5ABC863D-B72A-4676-96A1-4698CB089BC7}" type="pres">
      <dgm:prSet presAssocID="{C9FCD9D1-D3DE-442F-90A6-996E87A7386F}" presName="thickLine" presStyleLbl="alignNode1" presStyleIdx="5" presStyleCnt="8"/>
      <dgm:spPr/>
    </dgm:pt>
    <dgm:pt modelId="{87D461AF-CAC2-44E7-9682-329D496A4BA4}" type="pres">
      <dgm:prSet presAssocID="{C9FCD9D1-D3DE-442F-90A6-996E87A7386F}" presName="horz1" presStyleCnt="0"/>
      <dgm:spPr/>
    </dgm:pt>
    <dgm:pt modelId="{F4663E91-35EE-435C-895A-CC72F858B88F}" type="pres">
      <dgm:prSet presAssocID="{C9FCD9D1-D3DE-442F-90A6-996E87A7386F}" presName="tx1" presStyleLbl="revTx" presStyleIdx="5" presStyleCnt="8"/>
      <dgm:spPr/>
    </dgm:pt>
    <dgm:pt modelId="{6E25FDEF-6AAA-4BEB-BA7D-08B45C0EB65F}" type="pres">
      <dgm:prSet presAssocID="{C9FCD9D1-D3DE-442F-90A6-996E87A7386F}" presName="vert1" presStyleCnt="0"/>
      <dgm:spPr/>
    </dgm:pt>
    <dgm:pt modelId="{5247644A-3E27-4B6E-86D3-EC235BA2F131}" type="pres">
      <dgm:prSet presAssocID="{0C9A85C5-1E3F-49C0-8D8B-4F4E4B684821}" presName="thickLine" presStyleLbl="alignNode1" presStyleIdx="6" presStyleCnt="8"/>
      <dgm:spPr/>
    </dgm:pt>
    <dgm:pt modelId="{0F9FCBB7-0130-4EE3-ACEB-AFFCC03F8D9C}" type="pres">
      <dgm:prSet presAssocID="{0C9A85C5-1E3F-49C0-8D8B-4F4E4B684821}" presName="horz1" presStyleCnt="0"/>
      <dgm:spPr/>
    </dgm:pt>
    <dgm:pt modelId="{4BDC63FF-F70F-436E-A519-A0F73D5578A7}" type="pres">
      <dgm:prSet presAssocID="{0C9A85C5-1E3F-49C0-8D8B-4F4E4B684821}" presName="tx1" presStyleLbl="revTx" presStyleIdx="6" presStyleCnt="8"/>
      <dgm:spPr/>
    </dgm:pt>
    <dgm:pt modelId="{A7E0EF5E-AA41-49A6-AB41-192801746EC6}" type="pres">
      <dgm:prSet presAssocID="{0C9A85C5-1E3F-49C0-8D8B-4F4E4B684821}" presName="vert1" presStyleCnt="0"/>
      <dgm:spPr/>
    </dgm:pt>
    <dgm:pt modelId="{A86C1F20-8A95-45D5-B867-9A9AFE2A8863}" type="pres">
      <dgm:prSet presAssocID="{D8DF3C54-11C9-4C67-84B7-5606385B14C9}" presName="thickLine" presStyleLbl="alignNode1" presStyleIdx="7" presStyleCnt="8"/>
      <dgm:spPr/>
    </dgm:pt>
    <dgm:pt modelId="{FA7DBB30-E7CD-4EC6-8774-60AC53EE810E}" type="pres">
      <dgm:prSet presAssocID="{D8DF3C54-11C9-4C67-84B7-5606385B14C9}" presName="horz1" presStyleCnt="0"/>
      <dgm:spPr/>
    </dgm:pt>
    <dgm:pt modelId="{75913FCF-62F2-4D76-9196-9081DC2CA04B}" type="pres">
      <dgm:prSet presAssocID="{D8DF3C54-11C9-4C67-84B7-5606385B14C9}" presName="tx1" presStyleLbl="revTx" presStyleIdx="7" presStyleCnt="8"/>
      <dgm:spPr/>
    </dgm:pt>
    <dgm:pt modelId="{C13954BD-2060-4405-9FF2-70DC203E05AA}" type="pres">
      <dgm:prSet presAssocID="{D8DF3C54-11C9-4C67-84B7-5606385B14C9}" presName="vert1" presStyleCnt="0"/>
      <dgm:spPr/>
    </dgm:pt>
  </dgm:ptLst>
  <dgm:cxnLst>
    <dgm:cxn modelId="{F1F87301-0999-47E9-B3AA-61496D6F83C8}" type="presOf" srcId="{1F1C89B8-5946-4F92-A4E2-F9C36898A945}" destId="{9FBA6840-DCF3-414C-9C22-41B37AF26FD7}" srcOrd="0" destOrd="0" presId="urn:microsoft.com/office/officeart/2008/layout/LinedList"/>
    <dgm:cxn modelId="{DA11DF19-ED3B-4C23-944E-21C675C30E43}" type="presOf" srcId="{9D338FC2-C0CB-45EC-8C30-07CA43760F3A}" destId="{6E98E291-CD1B-43D6-9F05-7E6B798F9D91}" srcOrd="0" destOrd="0" presId="urn:microsoft.com/office/officeart/2008/layout/LinedList"/>
    <dgm:cxn modelId="{08721422-A27E-485A-9963-7DF12CBA4AA9}" type="presOf" srcId="{0C9A85C5-1E3F-49C0-8D8B-4F4E4B684821}" destId="{4BDC63FF-F70F-436E-A519-A0F73D5578A7}" srcOrd="0" destOrd="0" presId="urn:microsoft.com/office/officeart/2008/layout/LinedList"/>
    <dgm:cxn modelId="{9F1F3724-3C2D-4476-A6AD-AF016664F481}" srcId="{9D338FC2-C0CB-45EC-8C30-07CA43760F3A}" destId="{0C9A85C5-1E3F-49C0-8D8B-4F4E4B684821}" srcOrd="6" destOrd="0" parTransId="{26A992DC-A218-4136-859B-7AF79C961FD6}" sibTransId="{BC0E6075-A966-4732-B0BC-3FB3CFD288E8}"/>
    <dgm:cxn modelId="{7C814B35-C422-47CB-9A4B-C06B13FAB17D}" type="presOf" srcId="{DEA0DCCE-8628-469A-AA1B-AD6501D4AB76}" destId="{0C7C4116-04B8-4BE1-85DE-E273220610B0}" srcOrd="0" destOrd="0" presId="urn:microsoft.com/office/officeart/2008/layout/LinedList"/>
    <dgm:cxn modelId="{59A46543-FEC4-4C72-ABE4-C02E0371DC9B}" type="presOf" srcId="{D8DF3C54-11C9-4C67-84B7-5606385B14C9}" destId="{75913FCF-62F2-4D76-9196-9081DC2CA04B}" srcOrd="0" destOrd="0" presId="urn:microsoft.com/office/officeart/2008/layout/LinedList"/>
    <dgm:cxn modelId="{E51F954A-D431-4074-87A3-ACC58345FE41}" srcId="{9D338FC2-C0CB-45EC-8C30-07CA43760F3A}" destId="{1F1C89B8-5946-4F92-A4E2-F9C36898A945}" srcOrd="4" destOrd="0" parTransId="{EFC63FDF-7826-402D-B545-3D930692A744}" sibTransId="{23C91D9B-EBB5-4180-AADC-840F353B734B}"/>
    <dgm:cxn modelId="{3D225A4E-7233-4748-AD71-3386AFBB3B55}" srcId="{9D338FC2-C0CB-45EC-8C30-07CA43760F3A}" destId="{C9AD12A2-4FF8-4E84-9E90-37CDA875B763}" srcOrd="3" destOrd="0" parTransId="{3D71EF27-3FE1-4455-9125-EB610E474A32}" sibTransId="{EB4CA627-66D4-41B4-BC16-F2E915C36A85}"/>
    <dgm:cxn modelId="{EC140A83-9FCB-4FE2-A4BE-516F2A9C2CFA}" srcId="{9D338FC2-C0CB-45EC-8C30-07CA43760F3A}" destId="{2D0D2B27-4FDF-41F7-B0D2-431781A6AA88}" srcOrd="2" destOrd="0" parTransId="{A8C78F35-FA1E-46C5-9CC9-98DF9E5B1861}" sibTransId="{6FE41E39-008A-45CB-B21E-20D4F5986289}"/>
    <dgm:cxn modelId="{7B13C789-5999-436B-9A9C-DB24A95D851E}" srcId="{9D338FC2-C0CB-45EC-8C30-07CA43760F3A}" destId="{C9FCD9D1-D3DE-442F-90A6-996E87A7386F}" srcOrd="5" destOrd="0" parTransId="{59053E63-3E69-4DDF-8107-010259B1754C}" sibTransId="{6CB8F4FA-6EAC-4913-83EF-F3693FEBDAF2}"/>
    <dgm:cxn modelId="{F743F190-BCE9-480C-92A8-7742D681674A}" type="presOf" srcId="{C9FCD9D1-D3DE-442F-90A6-996E87A7386F}" destId="{F4663E91-35EE-435C-895A-CC72F858B88F}" srcOrd="0" destOrd="0" presId="urn:microsoft.com/office/officeart/2008/layout/LinedList"/>
    <dgm:cxn modelId="{5A012AA1-6A5C-42E3-89C0-F4D03D189C7C}" type="presOf" srcId="{C9AD12A2-4FF8-4E84-9E90-37CDA875B763}" destId="{161F5C2A-EAA4-4840-9F4B-7324AC0498AA}" srcOrd="0" destOrd="0" presId="urn:microsoft.com/office/officeart/2008/layout/LinedList"/>
    <dgm:cxn modelId="{6721B1A1-853A-4C2D-874B-32B2F9717F6B}" type="presOf" srcId="{C6D58774-A266-45C2-BABF-7DF2C31B822B}" destId="{9E28A379-AF38-43DB-8E58-74D4FD4DDFEB}" srcOrd="0" destOrd="0" presId="urn:microsoft.com/office/officeart/2008/layout/LinedList"/>
    <dgm:cxn modelId="{DF9F9AB9-28CF-4A76-9B11-AF1758E251C7}" srcId="{9D338FC2-C0CB-45EC-8C30-07CA43760F3A}" destId="{C6D58774-A266-45C2-BABF-7DF2C31B822B}" srcOrd="1" destOrd="0" parTransId="{F9E67144-D08C-42E8-A4F2-9C1766F0FA1A}" sibTransId="{FF3F1A79-77D5-43E1-8630-DC398AA8F9FF}"/>
    <dgm:cxn modelId="{6FC6EECF-AB9A-42AE-8D56-546C89F112C0}" srcId="{9D338FC2-C0CB-45EC-8C30-07CA43760F3A}" destId="{D8DF3C54-11C9-4C67-84B7-5606385B14C9}" srcOrd="7" destOrd="0" parTransId="{DE0DE740-FFD5-4338-9D0D-F42BC1E4FB47}" sibTransId="{F33003CB-63F5-4B98-8971-1F48A5C42466}"/>
    <dgm:cxn modelId="{591176E9-3C32-48D3-BB34-7F608AEB1DFF}" srcId="{9D338FC2-C0CB-45EC-8C30-07CA43760F3A}" destId="{DEA0DCCE-8628-469A-AA1B-AD6501D4AB76}" srcOrd="0" destOrd="0" parTransId="{15BC0C69-B269-455C-B6C1-F1DEDA2CCEA3}" sibTransId="{FC63FF10-752C-43F6-9B25-569E106C6689}"/>
    <dgm:cxn modelId="{B1DDF7F5-05AD-42F9-AA73-C16E42F039A8}" type="presOf" srcId="{2D0D2B27-4FDF-41F7-B0D2-431781A6AA88}" destId="{6795E845-EEA5-4EE0-9F87-39E08F206829}" srcOrd="0" destOrd="0" presId="urn:microsoft.com/office/officeart/2008/layout/LinedList"/>
    <dgm:cxn modelId="{60106627-35E0-43DE-BA10-36A36539F9E1}" type="presParOf" srcId="{6E98E291-CD1B-43D6-9F05-7E6B798F9D91}" destId="{17F634BF-93E5-40FE-B42B-9289F60CA4CF}" srcOrd="0" destOrd="0" presId="urn:microsoft.com/office/officeart/2008/layout/LinedList"/>
    <dgm:cxn modelId="{18623863-56F1-4A47-8E2B-70E83587F4BE}" type="presParOf" srcId="{6E98E291-CD1B-43D6-9F05-7E6B798F9D91}" destId="{EB3931A1-5781-4ED3-BE45-D3506DBE153D}" srcOrd="1" destOrd="0" presId="urn:microsoft.com/office/officeart/2008/layout/LinedList"/>
    <dgm:cxn modelId="{7482889E-BB6A-4A11-91CC-78BF69D81EC6}" type="presParOf" srcId="{EB3931A1-5781-4ED3-BE45-D3506DBE153D}" destId="{0C7C4116-04B8-4BE1-85DE-E273220610B0}" srcOrd="0" destOrd="0" presId="urn:microsoft.com/office/officeart/2008/layout/LinedList"/>
    <dgm:cxn modelId="{DB728F26-E52D-4DB1-AB5E-BDC29E378EAC}" type="presParOf" srcId="{EB3931A1-5781-4ED3-BE45-D3506DBE153D}" destId="{1B689980-0C05-4531-BE10-98276DA74327}" srcOrd="1" destOrd="0" presId="urn:microsoft.com/office/officeart/2008/layout/LinedList"/>
    <dgm:cxn modelId="{6D8ABB62-D2CD-4C54-BCF9-A9B0C96EE41B}" type="presParOf" srcId="{6E98E291-CD1B-43D6-9F05-7E6B798F9D91}" destId="{9D82935B-D26A-46E1-BFC6-D267EBC96D1A}" srcOrd="2" destOrd="0" presId="urn:microsoft.com/office/officeart/2008/layout/LinedList"/>
    <dgm:cxn modelId="{E85D7177-1A28-40AE-BD07-C7B1ED6FEA81}" type="presParOf" srcId="{6E98E291-CD1B-43D6-9F05-7E6B798F9D91}" destId="{BAC7128D-9FD3-4D3E-8AC2-F9F3CCA6BD14}" srcOrd="3" destOrd="0" presId="urn:microsoft.com/office/officeart/2008/layout/LinedList"/>
    <dgm:cxn modelId="{6D0B189C-F56C-4EF0-893E-969823744B77}" type="presParOf" srcId="{BAC7128D-9FD3-4D3E-8AC2-F9F3CCA6BD14}" destId="{9E28A379-AF38-43DB-8E58-74D4FD4DDFEB}" srcOrd="0" destOrd="0" presId="urn:microsoft.com/office/officeart/2008/layout/LinedList"/>
    <dgm:cxn modelId="{C3F27BAB-637D-4F78-8C2A-ABBD59309698}" type="presParOf" srcId="{BAC7128D-9FD3-4D3E-8AC2-F9F3CCA6BD14}" destId="{022A8598-BCF3-475B-B923-A9EFFA0EC152}" srcOrd="1" destOrd="0" presId="urn:microsoft.com/office/officeart/2008/layout/LinedList"/>
    <dgm:cxn modelId="{7C8CDC7D-984F-4B0A-A04A-31016BE61A73}" type="presParOf" srcId="{6E98E291-CD1B-43D6-9F05-7E6B798F9D91}" destId="{74ECB1E6-6442-4031-A952-C642264A8533}" srcOrd="4" destOrd="0" presId="urn:microsoft.com/office/officeart/2008/layout/LinedList"/>
    <dgm:cxn modelId="{4B667EBE-C60B-49E9-8FEF-F9252F909BAE}" type="presParOf" srcId="{6E98E291-CD1B-43D6-9F05-7E6B798F9D91}" destId="{3822CB51-1B6A-4D84-A4A3-3D68E0CA5092}" srcOrd="5" destOrd="0" presId="urn:microsoft.com/office/officeart/2008/layout/LinedList"/>
    <dgm:cxn modelId="{02BD946B-8079-4230-B0AA-33C6BFD5DFA8}" type="presParOf" srcId="{3822CB51-1B6A-4D84-A4A3-3D68E0CA5092}" destId="{6795E845-EEA5-4EE0-9F87-39E08F206829}" srcOrd="0" destOrd="0" presId="urn:microsoft.com/office/officeart/2008/layout/LinedList"/>
    <dgm:cxn modelId="{98E1D711-3C67-4EFC-BECA-825A9928C302}" type="presParOf" srcId="{3822CB51-1B6A-4D84-A4A3-3D68E0CA5092}" destId="{C87839E6-B4BA-4DD2-8498-0131D08BB1E7}" srcOrd="1" destOrd="0" presId="urn:microsoft.com/office/officeart/2008/layout/LinedList"/>
    <dgm:cxn modelId="{2F1186DF-7CF6-4DF4-B8A8-9BAC551DC940}" type="presParOf" srcId="{6E98E291-CD1B-43D6-9F05-7E6B798F9D91}" destId="{0E9DAA54-B110-4C96-BE0C-4556C4805DEE}" srcOrd="6" destOrd="0" presId="urn:microsoft.com/office/officeart/2008/layout/LinedList"/>
    <dgm:cxn modelId="{98919897-C832-496D-A544-4642980C518A}" type="presParOf" srcId="{6E98E291-CD1B-43D6-9F05-7E6B798F9D91}" destId="{57F15252-F46A-49A6-B036-1C8DD6383547}" srcOrd="7" destOrd="0" presId="urn:microsoft.com/office/officeart/2008/layout/LinedList"/>
    <dgm:cxn modelId="{5EC5E8F6-6E48-4A67-8DCF-CEE9B8DED865}" type="presParOf" srcId="{57F15252-F46A-49A6-B036-1C8DD6383547}" destId="{161F5C2A-EAA4-4840-9F4B-7324AC0498AA}" srcOrd="0" destOrd="0" presId="urn:microsoft.com/office/officeart/2008/layout/LinedList"/>
    <dgm:cxn modelId="{7864DCD7-7777-4055-9F03-FA6A721108A8}" type="presParOf" srcId="{57F15252-F46A-49A6-B036-1C8DD6383547}" destId="{990BF663-6C92-4E7F-80A1-E3D9A5FF8B4C}" srcOrd="1" destOrd="0" presId="urn:microsoft.com/office/officeart/2008/layout/LinedList"/>
    <dgm:cxn modelId="{51DBD986-A8D4-47DF-8F3E-8E14562FC025}" type="presParOf" srcId="{6E98E291-CD1B-43D6-9F05-7E6B798F9D91}" destId="{004B7BC3-4C75-4CA9-8425-DAED28874CF8}" srcOrd="8" destOrd="0" presId="urn:microsoft.com/office/officeart/2008/layout/LinedList"/>
    <dgm:cxn modelId="{FDBBC115-B885-4222-849E-BAAB48F679B7}" type="presParOf" srcId="{6E98E291-CD1B-43D6-9F05-7E6B798F9D91}" destId="{D575E054-892B-4528-A74A-6FE6772B297B}" srcOrd="9" destOrd="0" presId="urn:microsoft.com/office/officeart/2008/layout/LinedList"/>
    <dgm:cxn modelId="{F2B424DE-849D-4BB4-AB23-A5D19AA5D80F}" type="presParOf" srcId="{D575E054-892B-4528-A74A-6FE6772B297B}" destId="{9FBA6840-DCF3-414C-9C22-41B37AF26FD7}" srcOrd="0" destOrd="0" presId="urn:microsoft.com/office/officeart/2008/layout/LinedList"/>
    <dgm:cxn modelId="{7E485F10-40BB-4AA0-A2DB-4E5F312065DC}" type="presParOf" srcId="{D575E054-892B-4528-A74A-6FE6772B297B}" destId="{6394AA3C-A572-4C03-ABE4-1BE987875355}" srcOrd="1" destOrd="0" presId="urn:microsoft.com/office/officeart/2008/layout/LinedList"/>
    <dgm:cxn modelId="{6929BBBF-5039-4E2F-AC17-A4466DBD0F4B}" type="presParOf" srcId="{6E98E291-CD1B-43D6-9F05-7E6B798F9D91}" destId="{5ABC863D-B72A-4676-96A1-4698CB089BC7}" srcOrd="10" destOrd="0" presId="urn:microsoft.com/office/officeart/2008/layout/LinedList"/>
    <dgm:cxn modelId="{9D1F36C3-C32A-4C68-8BC5-AE5446F939BA}" type="presParOf" srcId="{6E98E291-CD1B-43D6-9F05-7E6B798F9D91}" destId="{87D461AF-CAC2-44E7-9682-329D496A4BA4}" srcOrd="11" destOrd="0" presId="urn:microsoft.com/office/officeart/2008/layout/LinedList"/>
    <dgm:cxn modelId="{7D214BEE-A950-4507-8DA5-BB01782DB259}" type="presParOf" srcId="{87D461AF-CAC2-44E7-9682-329D496A4BA4}" destId="{F4663E91-35EE-435C-895A-CC72F858B88F}" srcOrd="0" destOrd="0" presId="urn:microsoft.com/office/officeart/2008/layout/LinedList"/>
    <dgm:cxn modelId="{7E959C61-C160-4C74-9C48-E233C8EB00ED}" type="presParOf" srcId="{87D461AF-CAC2-44E7-9682-329D496A4BA4}" destId="{6E25FDEF-6AAA-4BEB-BA7D-08B45C0EB65F}" srcOrd="1" destOrd="0" presId="urn:microsoft.com/office/officeart/2008/layout/LinedList"/>
    <dgm:cxn modelId="{F5E45426-C582-4284-A735-7804DD427D14}" type="presParOf" srcId="{6E98E291-CD1B-43D6-9F05-7E6B798F9D91}" destId="{5247644A-3E27-4B6E-86D3-EC235BA2F131}" srcOrd="12" destOrd="0" presId="urn:microsoft.com/office/officeart/2008/layout/LinedList"/>
    <dgm:cxn modelId="{85B192F2-3B0A-4DC4-82D3-C34690517949}" type="presParOf" srcId="{6E98E291-CD1B-43D6-9F05-7E6B798F9D91}" destId="{0F9FCBB7-0130-4EE3-ACEB-AFFCC03F8D9C}" srcOrd="13" destOrd="0" presId="urn:microsoft.com/office/officeart/2008/layout/LinedList"/>
    <dgm:cxn modelId="{F71EB397-631B-4764-9237-43BF84256E49}" type="presParOf" srcId="{0F9FCBB7-0130-4EE3-ACEB-AFFCC03F8D9C}" destId="{4BDC63FF-F70F-436E-A519-A0F73D5578A7}" srcOrd="0" destOrd="0" presId="urn:microsoft.com/office/officeart/2008/layout/LinedList"/>
    <dgm:cxn modelId="{A8BF6EB9-4915-455E-A6EE-6B38B9F275E3}" type="presParOf" srcId="{0F9FCBB7-0130-4EE3-ACEB-AFFCC03F8D9C}" destId="{A7E0EF5E-AA41-49A6-AB41-192801746EC6}" srcOrd="1" destOrd="0" presId="urn:microsoft.com/office/officeart/2008/layout/LinedList"/>
    <dgm:cxn modelId="{DDBC5077-25E0-4B8F-9D72-35F767DE004A}" type="presParOf" srcId="{6E98E291-CD1B-43D6-9F05-7E6B798F9D91}" destId="{A86C1F20-8A95-45D5-B867-9A9AFE2A8863}" srcOrd="14" destOrd="0" presId="urn:microsoft.com/office/officeart/2008/layout/LinedList"/>
    <dgm:cxn modelId="{E648BCD1-E5D4-4A5C-A313-6A29EE970328}" type="presParOf" srcId="{6E98E291-CD1B-43D6-9F05-7E6B798F9D91}" destId="{FA7DBB30-E7CD-4EC6-8774-60AC53EE810E}" srcOrd="15" destOrd="0" presId="urn:microsoft.com/office/officeart/2008/layout/LinedList"/>
    <dgm:cxn modelId="{2B030DD4-7EB5-444F-A924-8B69C3D7F09F}" type="presParOf" srcId="{FA7DBB30-E7CD-4EC6-8774-60AC53EE810E}" destId="{75913FCF-62F2-4D76-9196-9081DC2CA04B}" srcOrd="0" destOrd="0" presId="urn:microsoft.com/office/officeart/2008/layout/LinedList"/>
    <dgm:cxn modelId="{7483701D-9319-48A5-A96F-80729EFC772B}" type="presParOf" srcId="{FA7DBB30-E7CD-4EC6-8774-60AC53EE810E}" destId="{C13954BD-2060-4405-9FF2-70DC203E05A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373122" cy="6760346"/>
        <a:chOff x="0" y="0"/>
        <a:chExt cx="8373122" cy="6760346"/>
      </a:xfrm>
    </dsp:grpSpPr>
    <dsp:sp modelId="{17F634BF-93E5-40FE-B42B-9289F60CA4CF}">
      <dsp:nvSpPr>
        <dsp:cNvPr id="3" name="直接连接符 2"/>
        <dsp:cNvSpPr/>
      </dsp:nvSpPr>
      <dsp:spPr bwMode="white">
        <a:xfrm>
          <a:off x="0" y="0"/>
          <a:ext cx="8373122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0"/>
        <a:ext cx="8373122" cy="0"/>
      </dsp:txXfrm>
    </dsp:sp>
    <dsp:sp modelId="{0C7C4116-04B8-4BE1-85DE-E273220610B0}">
      <dsp:nvSpPr>
        <dsp:cNvPr id="4" name="矩形 3"/>
        <dsp:cNvSpPr/>
      </dsp:nvSpPr>
      <dsp:spPr bwMode="white">
        <a:xfrm>
          <a:off x="0" y="0"/>
          <a:ext cx="8373122" cy="84504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76200" tIns="76200" rIns="76200" bIns="7620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dirty="0">
              <a:solidFill>
                <a:schemeClr val="accent2">
                  <a:lumMod val="50000"/>
                </a:schemeClr>
              </a:solidFill>
            </a:rPr>
            <a:t>5.4 Future Improvements</a:t>
          </a:r>
          <a:endParaRPr lang="en-US" sz="2000" dirty="0">
            <a:solidFill>
              <a:schemeClr val="accent2">
                <a:lumMod val="50000"/>
              </a:schemeClr>
            </a:solidFill>
          </a:endParaRPr>
        </a:p>
      </dsp:txBody>
      <dsp:txXfrm>
        <a:off x="0" y="0"/>
        <a:ext cx="8373122" cy="845043"/>
      </dsp:txXfrm>
    </dsp:sp>
    <dsp:sp modelId="{9D82935B-D26A-46E1-BFC6-D267EBC96D1A}">
      <dsp:nvSpPr>
        <dsp:cNvPr id="5" name="直接连接符 4"/>
        <dsp:cNvSpPr/>
      </dsp:nvSpPr>
      <dsp:spPr bwMode="white">
        <a:xfrm>
          <a:off x="0" y="845043"/>
          <a:ext cx="8373122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845043"/>
        <a:ext cx="8373122" cy="0"/>
      </dsp:txXfrm>
    </dsp:sp>
    <dsp:sp modelId="{9E28A379-AF38-43DB-8E58-74D4FD4DDFEB}">
      <dsp:nvSpPr>
        <dsp:cNvPr id="6" name="矩形 5"/>
        <dsp:cNvSpPr/>
      </dsp:nvSpPr>
      <dsp:spPr bwMode="white">
        <a:xfrm>
          <a:off x="0" y="845043"/>
          <a:ext cx="8373122" cy="84504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0960" tIns="60960" rIns="60960" bIns="6096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>
              <a:solidFill>
                <a:schemeClr val="tx1"/>
              </a:solidFill>
            </a:rPr>
            <a:t>Advanced Pathfinding</a:t>
          </a:r>
          <a:r>
            <a:rPr lang="en-US" sz="1600" dirty="0">
              <a:solidFill>
                <a:schemeClr val="tx1"/>
              </a:solidFill>
            </a:rPr>
            <a:t>: Implement more sophisticated MAPF algorithms (e.g., Conflict-Based Search, Push and Swap) for better scalability</a:t>
          </a:r>
          <a:endParaRPr>
            <a:solidFill>
              <a:schemeClr val="tx1"/>
            </a:solidFill>
          </a:endParaRPr>
        </a:p>
      </dsp:txBody>
      <dsp:txXfrm>
        <a:off x="0" y="845043"/>
        <a:ext cx="8373122" cy="845043"/>
      </dsp:txXfrm>
    </dsp:sp>
    <dsp:sp modelId="{74ECB1E6-6442-4031-A952-C642264A8533}">
      <dsp:nvSpPr>
        <dsp:cNvPr id="7" name="直接连接符 6"/>
        <dsp:cNvSpPr/>
      </dsp:nvSpPr>
      <dsp:spPr bwMode="white">
        <a:xfrm>
          <a:off x="0" y="1690087"/>
          <a:ext cx="8373122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1690087"/>
        <a:ext cx="8373122" cy="0"/>
      </dsp:txXfrm>
    </dsp:sp>
    <dsp:sp modelId="{6795E845-EEA5-4EE0-9F87-39E08F206829}">
      <dsp:nvSpPr>
        <dsp:cNvPr id="8" name="矩形 7"/>
        <dsp:cNvSpPr/>
      </dsp:nvSpPr>
      <dsp:spPr bwMode="white">
        <a:xfrm>
          <a:off x="0" y="1690087"/>
          <a:ext cx="8373122" cy="84504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0960" tIns="60960" rIns="60960" bIns="6096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>
              <a:solidFill>
                <a:schemeClr val="tx1"/>
              </a:solidFill>
            </a:rPr>
            <a:t>Optimization-Based Task Allocation</a:t>
          </a:r>
          <a:r>
            <a:rPr lang="en-US" sz="1600" dirty="0">
              <a:solidFill>
                <a:schemeClr val="tx1"/>
              </a:solidFill>
            </a:rPr>
            <a:t>: Replace greedy allocation with optimization algorithms (e.g., linear programming, constraint programming) for global optimality</a:t>
          </a:r>
          <a:endParaRPr>
            <a:solidFill>
              <a:schemeClr val="tx1"/>
            </a:solidFill>
          </a:endParaRPr>
        </a:p>
      </dsp:txBody>
      <dsp:txXfrm>
        <a:off x="0" y="1690087"/>
        <a:ext cx="8373122" cy="845043"/>
      </dsp:txXfrm>
    </dsp:sp>
    <dsp:sp modelId="{0E9DAA54-B110-4C96-BE0C-4556C4805DEE}">
      <dsp:nvSpPr>
        <dsp:cNvPr id="9" name="直接连接符 8"/>
        <dsp:cNvSpPr/>
      </dsp:nvSpPr>
      <dsp:spPr bwMode="white">
        <a:xfrm>
          <a:off x="0" y="2535130"/>
          <a:ext cx="8373122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2535130"/>
        <a:ext cx="8373122" cy="0"/>
      </dsp:txXfrm>
    </dsp:sp>
    <dsp:sp modelId="{161F5C2A-EAA4-4840-9F4B-7324AC0498AA}">
      <dsp:nvSpPr>
        <dsp:cNvPr id="10" name="矩形 9"/>
        <dsp:cNvSpPr/>
      </dsp:nvSpPr>
      <dsp:spPr bwMode="white">
        <a:xfrm>
          <a:off x="0" y="2535130"/>
          <a:ext cx="8373122" cy="84504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0960" tIns="60960" rIns="60960" bIns="6096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>
              <a:solidFill>
                <a:schemeClr val="tx1"/>
              </a:solidFill>
            </a:rPr>
            <a:t>Dynamic Replanning</a:t>
          </a:r>
          <a:r>
            <a:rPr lang="en-US" sz="1600" dirty="0">
              <a:solidFill>
                <a:schemeClr val="tx1"/>
              </a:solidFill>
            </a:rPr>
            <a:t>: Add capability to replan paths when new information becomes available or when conflicts are detected</a:t>
          </a:r>
          <a:endParaRPr>
            <a:solidFill>
              <a:schemeClr val="tx1"/>
            </a:solidFill>
          </a:endParaRPr>
        </a:p>
      </dsp:txBody>
      <dsp:txXfrm>
        <a:off x="0" y="2535130"/>
        <a:ext cx="8373122" cy="845043"/>
      </dsp:txXfrm>
    </dsp:sp>
    <dsp:sp modelId="{004B7BC3-4C75-4CA9-8425-DAED28874CF8}">
      <dsp:nvSpPr>
        <dsp:cNvPr id="11" name="直接连接符 10"/>
        <dsp:cNvSpPr/>
      </dsp:nvSpPr>
      <dsp:spPr bwMode="white">
        <a:xfrm>
          <a:off x="0" y="3380173"/>
          <a:ext cx="8373122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3380173"/>
        <a:ext cx="8373122" cy="0"/>
      </dsp:txXfrm>
    </dsp:sp>
    <dsp:sp modelId="{9FBA6840-DCF3-414C-9C22-41B37AF26FD7}">
      <dsp:nvSpPr>
        <dsp:cNvPr id="12" name="矩形 11"/>
        <dsp:cNvSpPr/>
      </dsp:nvSpPr>
      <dsp:spPr bwMode="white">
        <a:xfrm>
          <a:off x="0" y="3380173"/>
          <a:ext cx="8373122" cy="84504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0960" tIns="60960" rIns="60960" bIns="6096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>
              <a:solidFill>
                <a:schemeClr val="tx1"/>
              </a:solidFill>
            </a:rPr>
            <a:t>Real-time Adaptation</a:t>
          </a:r>
          <a:r>
            <a:rPr lang="en-US" sz="1600" dirty="0">
              <a:solidFill>
                <a:schemeClr val="tx1"/>
              </a:solidFill>
            </a:rPr>
            <a:t>: Implement mechanisms to handle dynamic obstacles and changing warehouse conditions</a:t>
          </a:r>
          <a:endParaRPr>
            <a:solidFill>
              <a:schemeClr val="tx1"/>
            </a:solidFill>
          </a:endParaRPr>
        </a:p>
      </dsp:txBody>
      <dsp:txXfrm>
        <a:off x="0" y="3380173"/>
        <a:ext cx="8373122" cy="845043"/>
      </dsp:txXfrm>
    </dsp:sp>
    <dsp:sp modelId="{5ABC863D-B72A-4676-96A1-4698CB089BC7}">
      <dsp:nvSpPr>
        <dsp:cNvPr id="13" name="直接连接符 12"/>
        <dsp:cNvSpPr/>
      </dsp:nvSpPr>
      <dsp:spPr bwMode="white">
        <a:xfrm>
          <a:off x="0" y="4225216"/>
          <a:ext cx="8373122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4225216"/>
        <a:ext cx="8373122" cy="0"/>
      </dsp:txXfrm>
    </dsp:sp>
    <dsp:sp modelId="{F4663E91-35EE-435C-895A-CC72F858B88F}">
      <dsp:nvSpPr>
        <dsp:cNvPr id="14" name="矩形 13"/>
        <dsp:cNvSpPr/>
      </dsp:nvSpPr>
      <dsp:spPr bwMode="white">
        <a:xfrm>
          <a:off x="0" y="4225216"/>
          <a:ext cx="8373122" cy="84504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0960" tIns="60960" rIns="60960" bIns="6096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>
              <a:solidFill>
                <a:schemeClr val="tx1"/>
              </a:solidFill>
            </a:rPr>
            <a:t>Performance Metrics</a:t>
          </a:r>
          <a:r>
            <a:rPr lang="en-US" sz="1600" dirty="0">
              <a:solidFill>
                <a:schemeClr val="tx1"/>
              </a:solidFill>
            </a:rPr>
            <a:t>: Add comprehensive metrics (throughput, </a:t>
          </a:r>
          <a:r>
            <a:rPr lang="en-US" sz="1600" dirty="0" err="1">
              <a:solidFill>
                <a:schemeClr val="tx1"/>
              </a:solidFill>
            </a:rPr>
            <a:t>makespan</a:t>
          </a:r>
          <a:r>
            <a:rPr lang="en-US" sz="1600" dirty="0">
              <a:solidFill>
                <a:schemeClr val="tx1"/>
              </a:solidFill>
            </a:rPr>
            <a:t>, AGV utilization) and compare against baseline algorithms</a:t>
          </a:r>
          <a:endParaRPr>
            <a:solidFill>
              <a:schemeClr val="tx1"/>
            </a:solidFill>
          </a:endParaRPr>
        </a:p>
      </dsp:txBody>
      <dsp:txXfrm>
        <a:off x="0" y="4225216"/>
        <a:ext cx="8373122" cy="845043"/>
      </dsp:txXfrm>
    </dsp:sp>
    <dsp:sp modelId="{5247644A-3E27-4B6E-86D3-EC235BA2F131}">
      <dsp:nvSpPr>
        <dsp:cNvPr id="15" name="直接连接符 14"/>
        <dsp:cNvSpPr/>
      </dsp:nvSpPr>
      <dsp:spPr bwMode="white">
        <a:xfrm>
          <a:off x="0" y="5070260"/>
          <a:ext cx="8373122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5070260"/>
        <a:ext cx="8373122" cy="0"/>
      </dsp:txXfrm>
    </dsp:sp>
    <dsp:sp modelId="{4BDC63FF-F70F-436E-A519-A0F73D5578A7}">
      <dsp:nvSpPr>
        <dsp:cNvPr id="16" name="矩形 15"/>
        <dsp:cNvSpPr/>
      </dsp:nvSpPr>
      <dsp:spPr bwMode="white">
        <a:xfrm>
          <a:off x="0" y="5070260"/>
          <a:ext cx="8373122" cy="84504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0960" tIns="60960" rIns="60960" bIns="6096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>
              <a:solidFill>
                <a:schemeClr val="tx1"/>
              </a:solidFill>
            </a:rPr>
            <a:t>Machine Learning Integration</a:t>
          </a:r>
          <a:r>
            <a:rPr lang="en-US" sz="1600" dirty="0">
              <a:solidFill>
                <a:schemeClr val="tx1"/>
              </a:solidFill>
            </a:rPr>
            <a:t>: Explore using reinforcement learning for adaptive task allocation and path planning</a:t>
          </a:r>
          <a:endParaRPr>
            <a:solidFill>
              <a:schemeClr val="tx1"/>
            </a:solidFill>
          </a:endParaRPr>
        </a:p>
      </dsp:txBody>
      <dsp:txXfrm>
        <a:off x="0" y="5070260"/>
        <a:ext cx="8373122" cy="845043"/>
      </dsp:txXfrm>
    </dsp:sp>
    <dsp:sp modelId="{A86C1F20-8A95-45D5-B867-9A9AFE2A8863}">
      <dsp:nvSpPr>
        <dsp:cNvPr id="17" name="直接连接符 16"/>
        <dsp:cNvSpPr/>
      </dsp:nvSpPr>
      <dsp:spPr bwMode="white">
        <a:xfrm>
          <a:off x="0" y="5915303"/>
          <a:ext cx="8373122" cy="0"/>
        </a:xfrm>
        <a:prstGeom prst="line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5915303"/>
        <a:ext cx="8373122" cy="0"/>
      </dsp:txXfrm>
    </dsp:sp>
    <dsp:sp modelId="{75913FCF-62F2-4D76-9196-9081DC2CA04B}">
      <dsp:nvSpPr>
        <dsp:cNvPr id="18" name="矩形 17"/>
        <dsp:cNvSpPr/>
      </dsp:nvSpPr>
      <dsp:spPr bwMode="white">
        <a:xfrm>
          <a:off x="0" y="5915303"/>
          <a:ext cx="8373122" cy="845043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lIns="60960" tIns="60960" rIns="60960" bIns="6096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dirty="0">
              <a:solidFill>
                <a:schemeClr val="tx1"/>
              </a:solidFill>
            </a:rPr>
            <a:t>3D Visualization</a:t>
          </a:r>
          <a:r>
            <a:rPr lang="en-US" sz="1600" dirty="0">
              <a:solidFill>
                <a:schemeClr val="tx1"/>
              </a:solidFill>
            </a:rPr>
            <a:t>: Enhance visualization to show AGV orientations, cargo states, and temporal evolution more clearly</a:t>
          </a:r>
          <a:endParaRPr>
            <a:solidFill>
              <a:schemeClr val="tx1"/>
            </a:solidFill>
          </a:endParaRPr>
        </a:p>
      </dsp:txBody>
      <dsp:txXfrm>
        <a:off x="0" y="5915303"/>
        <a:ext cx="8373122" cy="8450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 userDrawn="1"/>
        </p:nvSpPr>
        <p:spPr>
          <a:xfrm>
            <a:off x="0" y="0"/>
            <a:ext cx="12192000" cy="648586"/>
          </a:xfrm>
          <a:prstGeom prst="rect">
            <a:avLst/>
          </a:prstGeom>
          <a:solidFill>
            <a:srgbClr val="E8F5FB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-OfficePL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3.xml"/><Relationship Id="rId2" Type="http://schemas.openxmlformats.org/officeDocument/2006/relationships/image" Target="../media/image4.GIF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64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65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image" Target="../media/image4.GIF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76.xml"/><Relationship Id="rId3" Type="http://schemas.openxmlformats.org/officeDocument/2006/relationships/image" Target="../media/image9.GIF"/><Relationship Id="rId2" Type="http://schemas.openxmlformats.org/officeDocument/2006/relationships/image" Target="../media/image8.GIF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7.xml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78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79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0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1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2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3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4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5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6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7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8.xml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89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0.xml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93.xml"/><Relationship Id="rId4" Type="http://schemas.openxmlformats.org/officeDocument/2006/relationships/image" Target="../media/image13.png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98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tags" Target="../tags/tag100.xml"/><Relationship Id="rId5" Type="http://schemas.openxmlformats.org/officeDocument/2006/relationships/image" Target="../media/image16.png"/><Relationship Id="rId4" Type="http://schemas.openxmlformats.org/officeDocument/2006/relationships/tags" Target="../tags/tag99.xml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0.jpeg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2.jpeg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21.jpe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hyperlink" Target="https://matplotlib.org/" TargetMode="External"/><Relationship Id="rId2" Type="http://schemas.openxmlformats.org/officeDocument/2006/relationships/hyperlink" Target="https://pandas.pydata.org/" TargetMode="External"/><Relationship Id="rId1" Type="http://schemas.openxmlformats.org/officeDocument/2006/relationships/hyperlink" Target="https://docs.python.org/3/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图片 63"/>
          <p:cNvPicPr>
            <a:picLocks noChangeAspect="1"/>
          </p:cNvPicPr>
          <p:nvPr/>
        </p:nvPicPr>
        <p:blipFill>
          <a:blip r:embed="rId1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560"/>
            <a:ext cx="12192000" cy="6832879"/>
          </a:xfrm>
          <a:prstGeom prst="rect">
            <a:avLst/>
          </a:prstGeom>
        </p:spPr>
      </p:pic>
      <p:sp>
        <p:nvSpPr>
          <p:cNvPr id="4" name="任意多边形: 形状 3"/>
          <p:cNvSpPr/>
          <p:nvPr/>
        </p:nvSpPr>
        <p:spPr>
          <a:xfrm>
            <a:off x="5970428" y="1705429"/>
            <a:ext cx="6221573" cy="5152571"/>
          </a:xfrm>
          <a:custGeom>
            <a:avLst/>
            <a:gdLst>
              <a:gd name="connsiteX0" fmla="*/ 3424000 w 5491461"/>
              <a:gd name="connsiteY0" fmla="*/ 0 h 4554300"/>
              <a:gd name="connsiteX1" fmla="*/ 5338391 w 5491461"/>
              <a:gd name="connsiteY1" fmla="*/ 584766 h 4554300"/>
              <a:gd name="connsiteX2" fmla="*/ 5491461 w 5491461"/>
              <a:gd name="connsiteY2" fmla="*/ 699229 h 4554300"/>
              <a:gd name="connsiteX3" fmla="*/ 5491461 w 5491461"/>
              <a:gd name="connsiteY3" fmla="*/ 1359096 h 4554300"/>
              <a:gd name="connsiteX4" fmla="*/ 5490244 w 5491461"/>
              <a:gd name="connsiteY4" fmla="*/ 1357756 h 4554300"/>
              <a:gd name="connsiteX5" fmla="*/ 3424000 w 5491461"/>
              <a:gd name="connsiteY5" fmla="*/ 501890 h 4554300"/>
              <a:gd name="connsiteX6" fmla="*/ 501890 w 5491461"/>
              <a:gd name="connsiteY6" fmla="*/ 3424000 h 4554300"/>
              <a:gd name="connsiteX7" fmla="*/ 633262 w 5491461"/>
              <a:gd name="connsiteY7" fmla="*/ 4292947 h 4554300"/>
              <a:gd name="connsiteX8" fmla="*/ 728919 w 5491461"/>
              <a:gd name="connsiteY8" fmla="*/ 4554300 h 4554300"/>
              <a:gd name="connsiteX9" fmla="*/ 194968 w 5491461"/>
              <a:gd name="connsiteY9" fmla="*/ 4554300 h 4554300"/>
              <a:gd name="connsiteX10" fmla="*/ 153937 w 5491461"/>
              <a:gd name="connsiteY10" fmla="*/ 4442193 h 4554300"/>
              <a:gd name="connsiteX11" fmla="*/ 0 w 5491461"/>
              <a:gd name="connsiteY11" fmla="*/ 3424000 h 4554300"/>
              <a:gd name="connsiteX12" fmla="*/ 3424000 w 5491461"/>
              <a:gd name="connsiteY12" fmla="*/ 0 h 455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91461" h="4554300">
                <a:moveTo>
                  <a:pt x="3424000" y="0"/>
                </a:moveTo>
                <a:cubicBezTo>
                  <a:pt x="4133134" y="0"/>
                  <a:pt x="4791917" y="215575"/>
                  <a:pt x="5338391" y="584766"/>
                </a:cubicBezTo>
                <a:lnTo>
                  <a:pt x="5491461" y="699229"/>
                </a:lnTo>
                <a:lnTo>
                  <a:pt x="5491461" y="1359096"/>
                </a:lnTo>
                <a:lnTo>
                  <a:pt x="5490244" y="1357756"/>
                </a:lnTo>
                <a:cubicBezTo>
                  <a:pt x="4961446" y="828958"/>
                  <a:pt x="4230918" y="501890"/>
                  <a:pt x="3424000" y="501890"/>
                </a:cubicBezTo>
                <a:cubicBezTo>
                  <a:pt x="1810163" y="501890"/>
                  <a:pt x="501890" y="1810163"/>
                  <a:pt x="501890" y="3424000"/>
                </a:cubicBezTo>
                <a:cubicBezTo>
                  <a:pt x="501890" y="3726595"/>
                  <a:pt x="547884" y="4018447"/>
                  <a:pt x="633262" y="4292947"/>
                </a:cubicBezTo>
                <a:lnTo>
                  <a:pt x="728919" y="4554300"/>
                </a:lnTo>
                <a:lnTo>
                  <a:pt x="194968" y="4554300"/>
                </a:lnTo>
                <a:lnTo>
                  <a:pt x="153937" y="4442193"/>
                </a:lnTo>
                <a:cubicBezTo>
                  <a:pt x="53894" y="4120546"/>
                  <a:pt x="0" y="3778567"/>
                  <a:pt x="0" y="3424000"/>
                </a:cubicBezTo>
                <a:cubicBezTo>
                  <a:pt x="0" y="1532977"/>
                  <a:pt x="1532977" y="0"/>
                  <a:pt x="3424000" y="0"/>
                </a:cubicBezTo>
                <a:close/>
              </a:path>
            </a:pathLst>
          </a:custGeom>
          <a:solidFill>
            <a:srgbClr val="5BA3C5"/>
          </a:solidFill>
          <a:ln>
            <a:noFill/>
          </a:ln>
          <a:effectLst>
            <a:outerShdw blurRad="419100" dist="228600" dir="15540000" algn="br" rotWithShape="0">
              <a:schemeClr val="accent1">
                <a:lumMod val="50000"/>
                <a:alpha val="1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任意多边形: 形状 11"/>
          <p:cNvSpPr/>
          <p:nvPr/>
        </p:nvSpPr>
        <p:spPr>
          <a:xfrm>
            <a:off x="11402131" y="0"/>
            <a:ext cx="789869" cy="476251"/>
          </a:xfrm>
          <a:custGeom>
            <a:avLst/>
            <a:gdLst>
              <a:gd name="connsiteX0" fmla="*/ 0 w 789869"/>
              <a:gd name="connsiteY0" fmla="*/ 0 h 476251"/>
              <a:gd name="connsiteX1" fmla="*/ 789869 w 789869"/>
              <a:gd name="connsiteY1" fmla="*/ 0 h 476251"/>
              <a:gd name="connsiteX2" fmla="*/ 789869 w 789869"/>
              <a:gd name="connsiteY2" fmla="*/ 450106 h 476251"/>
              <a:gd name="connsiteX3" fmla="*/ 747707 w 789869"/>
              <a:gd name="connsiteY3" fmla="*/ 463194 h 476251"/>
              <a:gd name="connsiteX4" fmla="*/ 618181 w 789869"/>
              <a:gd name="connsiteY4" fmla="*/ 476251 h 476251"/>
              <a:gd name="connsiteX5" fmla="*/ 25988 w 789869"/>
              <a:gd name="connsiteY5" fmla="*/ 83719 h 476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9869" h="476251">
                <a:moveTo>
                  <a:pt x="0" y="0"/>
                </a:moveTo>
                <a:lnTo>
                  <a:pt x="789869" y="0"/>
                </a:lnTo>
                <a:lnTo>
                  <a:pt x="789869" y="450106"/>
                </a:lnTo>
                <a:lnTo>
                  <a:pt x="747707" y="463194"/>
                </a:lnTo>
                <a:cubicBezTo>
                  <a:pt x="705869" y="471755"/>
                  <a:pt x="662550" y="476251"/>
                  <a:pt x="618181" y="476251"/>
                </a:cubicBezTo>
                <a:cubicBezTo>
                  <a:pt x="351966" y="476251"/>
                  <a:pt x="123555" y="314393"/>
                  <a:pt x="25988" y="83719"/>
                </a:cubicBezTo>
                <a:close/>
              </a:path>
            </a:pathLst>
          </a:custGeom>
          <a:solidFill>
            <a:srgbClr val="5BA3C5"/>
          </a:solidFill>
          <a:ln>
            <a:noFill/>
          </a:ln>
          <a:effectLst>
            <a:outerShdw blurRad="419100" dist="228600" dir="6540000" algn="br" rotWithShape="0">
              <a:schemeClr val="accent1">
                <a:lumMod val="50000"/>
                <a:alpha val="1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51270" y="5942703"/>
            <a:ext cx="958215" cy="635635"/>
            <a:chOff x="16859" y="1289"/>
            <a:chExt cx="1164" cy="772"/>
          </a:xfrm>
          <a:gradFill flip="none" rotWithShape="1">
            <a:gsLst>
              <a:gs pos="100000">
                <a:srgbClr val="5BA3C5">
                  <a:alpha val="0"/>
                </a:srgbClr>
              </a:gs>
              <a:gs pos="31000">
                <a:srgbClr val="5BA3C5"/>
              </a:gs>
            </a:gsLst>
            <a:lin ang="2700000" scaled="1"/>
            <a:tileRect/>
          </a:gradFill>
        </p:grpSpPr>
        <p:grpSp>
          <p:nvGrpSpPr>
            <p:cNvPr id="14" name="组合 13"/>
            <p:cNvGrpSpPr/>
            <p:nvPr/>
          </p:nvGrpSpPr>
          <p:grpSpPr>
            <a:xfrm>
              <a:off x="16859" y="1289"/>
              <a:ext cx="1164" cy="76"/>
              <a:chOff x="16859" y="1057"/>
              <a:chExt cx="1164" cy="76"/>
            </a:xfrm>
            <a:grpFill/>
          </p:grpSpPr>
          <p:sp>
            <p:nvSpPr>
              <p:cNvPr id="33" name="椭圆 32"/>
              <p:cNvSpPr/>
              <p:nvPr/>
            </p:nvSpPr>
            <p:spPr>
              <a:xfrm>
                <a:off x="16859" y="1057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7131" y="1057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17403" y="1057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17675" y="1057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17947" y="1057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组合 14"/>
            <p:cNvGrpSpPr/>
            <p:nvPr/>
          </p:nvGrpSpPr>
          <p:grpSpPr>
            <a:xfrm>
              <a:off x="16859" y="1521"/>
              <a:ext cx="1164" cy="76"/>
              <a:chOff x="16859" y="1417"/>
              <a:chExt cx="1164" cy="76"/>
            </a:xfrm>
            <a:grpFill/>
          </p:grpSpPr>
          <p:sp>
            <p:nvSpPr>
              <p:cNvPr id="28" name="椭圆 27"/>
              <p:cNvSpPr/>
              <p:nvPr/>
            </p:nvSpPr>
            <p:spPr>
              <a:xfrm>
                <a:off x="16859" y="1417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17131" y="1417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17403" y="1417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17675" y="1417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7947" y="1417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16" name="组合 15"/>
            <p:cNvGrpSpPr/>
            <p:nvPr/>
          </p:nvGrpSpPr>
          <p:grpSpPr>
            <a:xfrm>
              <a:off x="16859" y="1753"/>
              <a:ext cx="1164" cy="76"/>
              <a:chOff x="16859" y="1815"/>
              <a:chExt cx="1164" cy="76"/>
            </a:xfrm>
            <a:grpFill/>
          </p:grpSpPr>
          <p:sp>
            <p:nvSpPr>
              <p:cNvPr id="23" name="椭圆 22"/>
              <p:cNvSpPr/>
              <p:nvPr/>
            </p:nvSpPr>
            <p:spPr>
              <a:xfrm>
                <a:off x="16859" y="1815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17131" y="1815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5" name="椭圆 24"/>
              <p:cNvSpPr/>
              <p:nvPr/>
            </p:nvSpPr>
            <p:spPr>
              <a:xfrm>
                <a:off x="17403" y="1815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>
              <a:xfrm>
                <a:off x="17675" y="1815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17947" y="1815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16859" y="1985"/>
              <a:ext cx="1164" cy="76"/>
              <a:chOff x="16859" y="1985"/>
              <a:chExt cx="1164" cy="76"/>
            </a:xfrm>
            <a:grpFill/>
          </p:grpSpPr>
          <p:sp>
            <p:nvSpPr>
              <p:cNvPr id="18" name="椭圆 17"/>
              <p:cNvSpPr/>
              <p:nvPr/>
            </p:nvSpPr>
            <p:spPr>
              <a:xfrm>
                <a:off x="16859" y="1985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17131" y="1985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17403" y="1985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17675" y="1985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17947" y="1985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8" name="组合 37"/>
          <p:cNvGrpSpPr/>
          <p:nvPr/>
        </p:nvGrpSpPr>
        <p:grpSpPr>
          <a:xfrm flipH="1">
            <a:off x="9994101" y="677465"/>
            <a:ext cx="958215" cy="635635"/>
            <a:chOff x="16859" y="1289"/>
            <a:chExt cx="1164" cy="772"/>
          </a:xfrm>
          <a:gradFill flip="none" rotWithShape="1">
            <a:gsLst>
              <a:gs pos="100000">
                <a:srgbClr val="5BA3C5">
                  <a:alpha val="0"/>
                </a:srgbClr>
              </a:gs>
              <a:gs pos="31000">
                <a:srgbClr val="5BA3C5"/>
              </a:gs>
            </a:gsLst>
            <a:lin ang="2700000" scaled="1"/>
            <a:tileRect/>
          </a:gradFill>
        </p:grpSpPr>
        <p:grpSp>
          <p:nvGrpSpPr>
            <p:cNvPr id="39" name="组合 38"/>
            <p:cNvGrpSpPr/>
            <p:nvPr/>
          </p:nvGrpSpPr>
          <p:grpSpPr>
            <a:xfrm>
              <a:off x="16859" y="1289"/>
              <a:ext cx="1164" cy="76"/>
              <a:chOff x="16859" y="1057"/>
              <a:chExt cx="1164" cy="76"/>
            </a:xfrm>
            <a:grpFill/>
          </p:grpSpPr>
          <p:sp>
            <p:nvSpPr>
              <p:cNvPr id="58" name="椭圆 57"/>
              <p:cNvSpPr/>
              <p:nvPr/>
            </p:nvSpPr>
            <p:spPr>
              <a:xfrm>
                <a:off x="16859" y="1057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9" name="椭圆 58"/>
              <p:cNvSpPr/>
              <p:nvPr/>
            </p:nvSpPr>
            <p:spPr>
              <a:xfrm>
                <a:off x="17131" y="1057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0" name="椭圆 59"/>
              <p:cNvSpPr/>
              <p:nvPr/>
            </p:nvSpPr>
            <p:spPr>
              <a:xfrm>
                <a:off x="17403" y="1057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1" name="椭圆 60"/>
              <p:cNvSpPr/>
              <p:nvPr/>
            </p:nvSpPr>
            <p:spPr>
              <a:xfrm>
                <a:off x="17675" y="1057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17947" y="1057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>
              <a:off x="16859" y="1521"/>
              <a:ext cx="1164" cy="76"/>
              <a:chOff x="16859" y="1417"/>
              <a:chExt cx="1164" cy="76"/>
            </a:xfrm>
            <a:grpFill/>
          </p:grpSpPr>
          <p:sp>
            <p:nvSpPr>
              <p:cNvPr id="53" name="椭圆 52"/>
              <p:cNvSpPr/>
              <p:nvPr/>
            </p:nvSpPr>
            <p:spPr>
              <a:xfrm>
                <a:off x="16859" y="1417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17131" y="1417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5" name="椭圆 54"/>
              <p:cNvSpPr/>
              <p:nvPr/>
            </p:nvSpPr>
            <p:spPr>
              <a:xfrm>
                <a:off x="17403" y="1417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>
              <a:xfrm>
                <a:off x="17675" y="1417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7" name="椭圆 56"/>
              <p:cNvSpPr/>
              <p:nvPr/>
            </p:nvSpPr>
            <p:spPr>
              <a:xfrm>
                <a:off x="17947" y="1417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16859" y="1753"/>
              <a:ext cx="1164" cy="76"/>
              <a:chOff x="16859" y="1815"/>
              <a:chExt cx="1164" cy="76"/>
            </a:xfrm>
            <a:grpFill/>
          </p:grpSpPr>
          <p:sp>
            <p:nvSpPr>
              <p:cNvPr id="48" name="椭圆 47"/>
              <p:cNvSpPr/>
              <p:nvPr/>
            </p:nvSpPr>
            <p:spPr>
              <a:xfrm>
                <a:off x="16859" y="1815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9" name="椭圆 48"/>
              <p:cNvSpPr/>
              <p:nvPr/>
            </p:nvSpPr>
            <p:spPr>
              <a:xfrm>
                <a:off x="17131" y="1815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17403" y="1815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17675" y="1815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52" name="椭圆 51"/>
              <p:cNvSpPr/>
              <p:nvPr/>
            </p:nvSpPr>
            <p:spPr>
              <a:xfrm>
                <a:off x="17947" y="1815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16859" y="1985"/>
              <a:ext cx="1164" cy="76"/>
              <a:chOff x="16859" y="1985"/>
              <a:chExt cx="1164" cy="76"/>
            </a:xfrm>
            <a:grpFill/>
          </p:grpSpPr>
          <p:sp>
            <p:nvSpPr>
              <p:cNvPr id="43" name="椭圆 42"/>
              <p:cNvSpPr/>
              <p:nvPr/>
            </p:nvSpPr>
            <p:spPr>
              <a:xfrm>
                <a:off x="16859" y="1985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17131" y="1985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17403" y="1985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17675" y="1985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17947" y="1985"/>
                <a:ext cx="77" cy="7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</p:grpSp>
      <p:pic>
        <p:nvPicPr>
          <p:cNvPr id="73" name="图片 7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8" t="2365" r="28054" b="2668"/>
          <a:stretch>
            <a:fillRect/>
          </a:stretch>
        </p:blipFill>
        <p:spPr>
          <a:xfrm>
            <a:off x="6366197" y="2103641"/>
            <a:ext cx="5825803" cy="4754360"/>
          </a:xfrm>
          <a:custGeom>
            <a:avLst/>
            <a:gdLst>
              <a:gd name="connsiteX0" fmla="*/ 3462106 w 5825803"/>
              <a:gd name="connsiteY0" fmla="*/ 0 h 4754360"/>
              <a:gd name="connsiteX1" fmla="*/ 5664326 w 5825803"/>
              <a:gd name="connsiteY1" fmla="*/ 790577 h 4754360"/>
              <a:gd name="connsiteX2" fmla="*/ 5825803 w 5825803"/>
              <a:gd name="connsiteY2" fmla="*/ 937337 h 4754360"/>
              <a:gd name="connsiteX3" fmla="*/ 5825803 w 5825803"/>
              <a:gd name="connsiteY3" fmla="*/ 4754360 h 4754360"/>
              <a:gd name="connsiteX4" fmla="*/ 251810 w 5825803"/>
              <a:gd name="connsiteY4" fmla="*/ 4754360 h 4754360"/>
              <a:gd name="connsiteX5" fmla="*/ 155649 w 5825803"/>
              <a:gd name="connsiteY5" fmla="*/ 4491631 h 4754360"/>
              <a:gd name="connsiteX6" fmla="*/ 0 w 5825803"/>
              <a:gd name="connsiteY6" fmla="*/ 3462106 h 4754360"/>
              <a:gd name="connsiteX7" fmla="*/ 3462106 w 5825803"/>
              <a:gd name="connsiteY7" fmla="*/ 0 h 4754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25803" h="4754360">
                <a:moveTo>
                  <a:pt x="3462106" y="0"/>
                </a:moveTo>
                <a:cubicBezTo>
                  <a:pt x="4298635" y="0"/>
                  <a:pt x="5065871" y="296687"/>
                  <a:pt x="5664326" y="790577"/>
                </a:cubicBezTo>
                <a:lnTo>
                  <a:pt x="5825803" y="937337"/>
                </a:lnTo>
                <a:lnTo>
                  <a:pt x="5825803" y="4754360"/>
                </a:lnTo>
                <a:lnTo>
                  <a:pt x="251810" y="4754360"/>
                </a:lnTo>
                <a:lnTo>
                  <a:pt x="155649" y="4491631"/>
                </a:lnTo>
                <a:cubicBezTo>
                  <a:pt x="54494" y="4166404"/>
                  <a:pt x="0" y="3820618"/>
                  <a:pt x="0" y="3462106"/>
                </a:cubicBezTo>
                <a:cubicBezTo>
                  <a:pt x="0" y="1550038"/>
                  <a:pt x="1550038" y="0"/>
                  <a:pt x="3462106" y="0"/>
                </a:cubicBezTo>
                <a:close/>
              </a:path>
            </a:pathLst>
          </a:custGeom>
        </p:spPr>
      </p:pic>
      <p:grpSp>
        <p:nvGrpSpPr>
          <p:cNvPr id="93" name="组合 92"/>
          <p:cNvGrpSpPr/>
          <p:nvPr/>
        </p:nvGrpSpPr>
        <p:grpSpPr>
          <a:xfrm>
            <a:off x="3902495" y="1416561"/>
            <a:ext cx="2455658" cy="231889"/>
            <a:chOff x="8542421" y="1399630"/>
            <a:chExt cx="2455658" cy="231889"/>
          </a:xfrm>
        </p:grpSpPr>
        <p:sp>
          <p:nvSpPr>
            <p:cNvPr id="91" name="平行四边形 90"/>
            <p:cNvSpPr/>
            <p:nvPr/>
          </p:nvSpPr>
          <p:spPr>
            <a:xfrm>
              <a:off x="8542421" y="1513954"/>
              <a:ext cx="2455658" cy="117565"/>
            </a:xfrm>
            <a:prstGeom prst="parallelogram">
              <a:avLst>
                <a:gd name="adj" fmla="val 65246"/>
              </a:avLst>
            </a:prstGeom>
            <a:gradFill>
              <a:gsLst>
                <a:gs pos="30000">
                  <a:srgbClr val="5BA3C5"/>
                </a:gs>
                <a:gs pos="100000">
                  <a:srgbClr val="C4DFEC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036-上首金牛体" panose="02010609000101010101" pitchFamily="49" charset="-122"/>
                <a:ea typeface="036-上首金牛体" panose="02010609000101010101" pitchFamily="49" charset="-122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>
              <a:off x="8635868" y="1399630"/>
              <a:ext cx="1944503" cy="56629"/>
            </a:xfrm>
            <a:prstGeom prst="parallelogram">
              <a:avLst>
                <a:gd name="adj" fmla="val 65246"/>
              </a:avLst>
            </a:prstGeom>
            <a:gradFill>
              <a:gsLst>
                <a:gs pos="30000">
                  <a:srgbClr val="5BA3C5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036-上首金牛体" panose="02010609000101010101" pitchFamily="49" charset="-122"/>
                <a:ea typeface="036-上首金牛体" panose="02010609000101010101" pitchFamily="49" charset="-122"/>
              </a:endParaRPr>
            </a:p>
          </p:txBody>
        </p:sp>
      </p:grpSp>
      <p:grpSp>
        <p:nvGrpSpPr>
          <p:cNvPr id="119" name="组合 118"/>
          <p:cNvGrpSpPr/>
          <p:nvPr/>
        </p:nvGrpSpPr>
        <p:grpSpPr>
          <a:xfrm>
            <a:off x="588442" y="4225329"/>
            <a:ext cx="867084" cy="193904"/>
            <a:chOff x="8542421" y="1399630"/>
            <a:chExt cx="2455658" cy="231889"/>
          </a:xfrm>
        </p:grpSpPr>
        <p:sp>
          <p:nvSpPr>
            <p:cNvPr id="120" name="平行四边形 119"/>
            <p:cNvSpPr/>
            <p:nvPr/>
          </p:nvSpPr>
          <p:spPr>
            <a:xfrm>
              <a:off x="8542421" y="1513954"/>
              <a:ext cx="2455658" cy="117565"/>
            </a:xfrm>
            <a:prstGeom prst="parallelogram">
              <a:avLst>
                <a:gd name="adj" fmla="val 65246"/>
              </a:avLst>
            </a:prstGeom>
            <a:gradFill>
              <a:gsLst>
                <a:gs pos="0">
                  <a:srgbClr val="0759A2">
                    <a:alpha val="70000"/>
                  </a:srgbClr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036-上首金牛体" panose="02010609000101010101" pitchFamily="49" charset="-122"/>
                <a:ea typeface="036-上首金牛体" panose="02010609000101010101" pitchFamily="49" charset="-122"/>
              </a:endParaRPr>
            </a:p>
          </p:txBody>
        </p:sp>
        <p:sp>
          <p:nvSpPr>
            <p:cNvPr id="121" name="平行四边形 120"/>
            <p:cNvSpPr/>
            <p:nvPr/>
          </p:nvSpPr>
          <p:spPr>
            <a:xfrm>
              <a:off x="8635868" y="1399630"/>
              <a:ext cx="1944503" cy="56629"/>
            </a:xfrm>
            <a:prstGeom prst="parallelogram">
              <a:avLst>
                <a:gd name="adj" fmla="val 65246"/>
              </a:avLst>
            </a:prstGeom>
            <a:gradFill>
              <a:gsLst>
                <a:gs pos="30000">
                  <a:srgbClr val="0759A2">
                    <a:alpha val="40000"/>
                  </a:srgbClr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036-上首金牛体" panose="02010609000101010101" pitchFamily="49" charset="-122"/>
                <a:ea typeface="036-上首金牛体" panose="02010609000101010101" pitchFamily="49" charset="-122"/>
              </a:endParaRPr>
            </a:p>
          </p:txBody>
        </p:sp>
      </p:grpSp>
      <p:sp>
        <p:nvSpPr>
          <p:cNvPr id="141" name="文本框 140"/>
          <p:cNvSpPr txBox="1"/>
          <p:nvPr/>
        </p:nvSpPr>
        <p:spPr>
          <a:xfrm>
            <a:off x="417335" y="1086866"/>
            <a:ext cx="1663930" cy="386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50"/>
              </a:spcBef>
            </a:pPr>
            <a:r>
              <a:rPr lang="zh-CN" altLang="en-US" sz="1600" dirty="0">
                <a:gradFill>
                  <a:gsLst>
                    <a:gs pos="55000">
                      <a:srgbClr val="5BA3C5"/>
                    </a:gs>
                    <a:gs pos="0">
                      <a:srgbClr val="C4DFEC"/>
                    </a:gs>
                  </a:gsLst>
                  <a:lin ang="3000000" scaled="0"/>
                </a:gradFill>
                <a:latin typeface="036-上首金牛体" panose="02010609000101010101" pitchFamily="49" charset="-122"/>
                <a:ea typeface="036-上首金牛体" panose="02010609000101010101" pitchFamily="49" charset="-122"/>
                <a:cs typeface="+mn-ea"/>
                <a:sym typeface="+mn-lt"/>
              </a:rPr>
              <a:t>▶ ▶ ▶ ▶ ▶</a:t>
            </a:r>
            <a:endParaRPr lang="zh-CN" altLang="en-US" sz="1600" dirty="0">
              <a:gradFill>
                <a:gsLst>
                  <a:gs pos="55000">
                    <a:srgbClr val="5BA3C5"/>
                  </a:gs>
                  <a:gs pos="0">
                    <a:srgbClr val="C4DFEC"/>
                  </a:gs>
                </a:gsLst>
                <a:lin ang="3000000" scaled="0"/>
              </a:gradFill>
              <a:latin typeface="036-上首金牛体" panose="02010609000101010101" pitchFamily="49" charset="-122"/>
              <a:ea typeface="036-上首金牛体" panose="02010609000101010101" pitchFamily="49" charset="-122"/>
              <a:cs typeface="+mn-ea"/>
              <a:sym typeface="+mn-lt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466039" y="1902854"/>
            <a:ext cx="5474406" cy="1384995"/>
          </a:xfrm>
          <a:prstGeom prst="rect">
            <a:avLst/>
          </a:prstGeom>
          <a:noFill/>
          <a:effectLst/>
        </p:spPr>
        <p:txBody>
          <a:bodyPr vert="horz" wrap="square" rtlCol="0">
            <a:spAutoFit/>
          </a:bodyPr>
          <a:lstStyle/>
          <a:p>
            <a:pPr lvl="0">
              <a:defRPr/>
            </a:pPr>
            <a:r>
              <a:rPr lang="en-US" altLang="zh-CN" sz="4200" b="1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AGV Multi-Agent Path Planning and Task Scheduling System</a:t>
            </a:r>
            <a:endParaRPr lang="zh-CN" altLang="en-US" sz="4200" b="1" dirty="0">
              <a:latin typeface="Cambria" panose="02040503050406030204" pitchFamily="18" charset="0"/>
              <a:ea typeface="036-上首金牛体" panose="02010609000101010101" pitchFamily="49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1270" y="5105202"/>
            <a:ext cx="3291264" cy="522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hangingPunct="0">
              <a:lnSpc>
                <a:spcPct val="130000"/>
              </a:lnSpc>
              <a:spcBef>
                <a:spcPts val="50"/>
              </a:spcBef>
              <a:defRPr/>
            </a:pPr>
            <a:r>
              <a:rPr lang="en-US" altLang="zh-CN" sz="2400" b="1" kern="0" dirty="0">
                <a:latin typeface="Cambria" panose="02040503050406030204" pitchFamily="18" charset="0"/>
                <a:ea typeface="Cambria" panose="02040503050406030204" pitchFamily="18" charset="0"/>
                <a:cs typeface="+mn-ea"/>
                <a:sym typeface="+mn-lt"/>
              </a:rPr>
              <a:t>Group AA</a:t>
            </a:r>
            <a:endParaRPr lang="zh-CN" altLang="en-US" sz="2400" b="1" kern="0" dirty="0">
              <a:latin typeface="Cambria" panose="02040503050406030204" pitchFamily="18" charset="0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06270" y="5010785"/>
            <a:ext cx="40640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dirty="0">
                <a:latin typeface="Cambria" panose="02040503050406030204" pitchFamily="18" charset="0"/>
                <a:sym typeface="+mn-ea"/>
              </a:rPr>
              <a:t>MC566823 曾凱博</a:t>
            </a:r>
            <a:endParaRPr lang="en-US" altLang="zh-CN" sz="1600" dirty="0">
              <a:solidFill>
                <a:schemeClr val="tx1"/>
              </a:solidFill>
              <a:latin typeface="Cambria" panose="02040503050406030204" pitchFamily="18" charset="0"/>
              <a:sym typeface="+mn-ea"/>
            </a:endParaRPr>
          </a:p>
          <a:p>
            <a:pPr algn="ctr"/>
            <a:r>
              <a:rPr lang="en-US" altLang="zh-CN" sz="1600" dirty="0">
                <a:latin typeface="Cambria" panose="02040503050406030204" pitchFamily="18" charset="0"/>
                <a:sym typeface="+mn-ea"/>
              </a:rPr>
              <a:t>MC567612石軒</a:t>
            </a:r>
            <a:endParaRPr lang="en-US" altLang="zh-CN" sz="1600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pPr algn="ctr"/>
            <a:r>
              <a:rPr lang="en-US" altLang="zh-CN" sz="1600" dirty="0">
                <a:latin typeface="Cambria" panose="02040503050406030204" pitchFamily="18" charset="0"/>
                <a:sym typeface="+mn-ea"/>
              </a:rPr>
              <a:t>MC566422 遊浩業 </a:t>
            </a:r>
            <a:endParaRPr lang="en-US" altLang="zh-CN" sz="1600" dirty="0">
              <a:solidFill>
                <a:schemeClr val="tx1"/>
              </a:solidFill>
              <a:latin typeface="Cambria" panose="02040503050406030204" pitchFamily="18" charset="0"/>
              <a:sym typeface="+mn-ea"/>
            </a:endParaRPr>
          </a:p>
          <a:p>
            <a:pPr indent="457200" algn="ctr"/>
            <a:r>
              <a:rPr lang="en-US" altLang="zh-CN" sz="1600" dirty="0">
                <a:latin typeface="Cambria" panose="02040503050406030204" pitchFamily="18" charset="0"/>
                <a:sym typeface="+mn-ea"/>
              </a:rPr>
              <a:t>MC566896 盛俊偉	</a:t>
            </a:r>
            <a:endParaRPr lang="en-US" altLang="zh-CN" sz="1600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pPr algn="ctr"/>
            <a:r>
              <a:rPr lang="en-US" altLang="zh-CN" sz="1600" dirty="0">
                <a:latin typeface="Cambria" panose="02040503050406030204" pitchFamily="18" charset="0"/>
                <a:sym typeface="+mn-ea"/>
              </a:rPr>
              <a:t>MC564922 吳宛萦</a:t>
            </a:r>
            <a:endParaRPr lang="en-US" altLang="zh-CN" sz="1600" dirty="0">
              <a:solidFill>
                <a:schemeClr val="tx1"/>
              </a:solidFill>
              <a:latin typeface="Cambria" panose="02040503050406030204" pitchFamily="18" charset="0"/>
              <a:sym typeface="+mn-ea"/>
            </a:endParaRPr>
          </a:p>
          <a:p>
            <a:endParaRPr lang="en-US" altLang="zh-CN" sz="1600" dirty="0">
              <a:latin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928171" y="84203"/>
            <a:ext cx="5817583" cy="521970"/>
            <a:chOff x="393639" y="198201"/>
            <a:chExt cx="6737784" cy="521970"/>
          </a:xfrm>
        </p:grpSpPr>
        <p:sp>
          <p:nvSpPr>
            <p:cNvPr id="19" name="文本框 18"/>
            <p:cNvSpPr txBox="1"/>
            <p:nvPr/>
          </p:nvSpPr>
          <p:spPr>
            <a:xfrm>
              <a:off x="393639" y="198201"/>
              <a:ext cx="551581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dist"/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0.</a:t>
              </a:r>
              <a:endParaRPr lang="zh-CN" altLang="en-US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029463" y="198201"/>
              <a:ext cx="61019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just"/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Intruduction</a:t>
              </a:r>
              <a:endParaRPr lang="zh-CN" altLang="en-US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83" name="图片 8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867" y="30650"/>
            <a:ext cx="630327" cy="630327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822325" y="1102995"/>
            <a:ext cx="9709150" cy="3122295"/>
          </a:xfrm>
          <a:prstGeom prst="rect">
            <a:avLst/>
          </a:prstGeom>
        </p:spPr>
        <p:txBody>
          <a:bodyPr>
            <a:noAutofit/>
          </a:bodyPr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1800"/>
              <a:t>This project implements a comprehensive multi-agent path planning and task scheduling system for Automated Guided Vehicles (AGVs) in a warehouse environment. The system coordinates 12 AGVs to efficiently complete 100 tasks across a 20×20 grid warehouse, ensuring collision-free operations and optimal task allocation.</a:t>
            </a:r>
            <a:endParaRPr lang="en-US" altLang="zh-CN" sz="1800"/>
          </a:p>
        </p:txBody>
      </p:sp>
      <p:pic>
        <p:nvPicPr>
          <p:cNvPr id="10" name="图片 9" descr="图表, 散点图&#10;&#10;AI 生成的内容可能不正确。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890" y="2660478"/>
            <a:ext cx="3600000" cy="3600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928171" y="84203"/>
            <a:ext cx="5817583" cy="521970"/>
            <a:chOff x="393639" y="198201"/>
            <a:chExt cx="6737784" cy="521970"/>
          </a:xfrm>
        </p:grpSpPr>
        <p:sp>
          <p:nvSpPr>
            <p:cNvPr id="19" name="文本框 18"/>
            <p:cNvSpPr txBox="1"/>
            <p:nvPr/>
          </p:nvSpPr>
          <p:spPr>
            <a:xfrm>
              <a:off x="393639" y="198201"/>
              <a:ext cx="551581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dist"/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0.</a:t>
              </a:r>
              <a:endParaRPr lang="zh-CN" altLang="en-US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029463" y="198201"/>
              <a:ext cx="61019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just"/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Intruduction</a:t>
              </a:r>
              <a:endParaRPr lang="zh-CN" altLang="en-US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83" name="图片 8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867" y="30650"/>
            <a:ext cx="630327" cy="63032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35" y="2269490"/>
            <a:ext cx="4062730" cy="38760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975" y="2315845"/>
            <a:ext cx="4011295" cy="38296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630045" y="905510"/>
            <a:ext cx="83743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emergency packages</a:t>
            </a:r>
            <a:r>
              <a:rPr lang="en-US" altLang="zh-CN"/>
              <a:t>:  </a:t>
            </a:r>
            <a:endParaRPr lang="en-US" altLang="zh-CN"/>
          </a:p>
          <a:p>
            <a:r>
              <a:rPr lang="en-US" altLang="zh-CN"/>
              <a:t>High-priority shipments shall be unloaded into the designated destination slots prior to the expiry of the specified remaining time.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1430" y="2953385"/>
            <a:ext cx="3109595" cy="222377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925684" y="84203"/>
            <a:ext cx="5820070" cy="523220"/>
            <a:chOff x="390759" y="198201"/>
            <a:chExt cx="6740664" cy="523220"/>
          </a:xfrm>
        </p:grpSpPr>
        <p:sp>
          <p:nvSpPr>
            <p:cNvPr id="19" name="文本框 18"/>
            <p:cNvSpPr txBox="1"/>
            <p:nvPr/>
          </p:nvSpPr>
          <p:spPr>
            <a:xfrm>
              <a:off x="390759" y="198201"/>
              <a:ext cx="5573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dist"/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1.</a:t>
              </a:r>
              <a:endParaRPr lang="zh-CN" altLang="en-US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029463" y="198201"/>
              <a:ext cx="61019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just"/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  <a:sym typeface="+mn-ea"/>
                </a:rPr>
                <a:t>Instruction</a:t>
              </a:r>
              <a:endParaRPr lang="en-US" altLang="zh-CN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83" name="图片 8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867" y="30650"/>
            <a:ext cx="630327" cy="63032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65505" y="800735"/>
            <a:ext cx="9874250" cy="5835015"/>
          </a:xfrm>
          <a:prstGeom prst="rect">
            <a:avLst/>
          </a:prstGeom>
        </p:spPr>
        <p:txBody>
          <a:bodyPr>
            <a:noAutofit/>
          </a:bodyPr>
          <a:p>
            <a:pPr indent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-The system provides two CSV dataset files: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 -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`agv_position.csv`</a:t>
            </a:r>
            <a:r>
              <a:rPr lang="en-US" alt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Contains the warehouse layout and initial AGV positions, including pickup station locations, sorting outlet locations, and AGV initial coordinates and orientations.</a:t>
            </a:r>
            <a:endParaRPr lang="en-US" altLang="zh-CN" sz="16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 -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`agv_task.csv`</a:t>
            </a:r>
            <a:r>
              <a:rPr lang="en-US" alt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Contains the task definitions with 100 package tasks , specifying pickup stations, destination outlets, priority types, and remaining time for urgent tasks. </a:t>
            </a:r>
            <a:r>
              <a:rPr lang="en-US" altLang="zh-CN" sz="1600" u="sng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The system randomly generates 100 package tasks, including 2 high-priority tasks that must be completed within specified time limits.</a:t>
            </a:r>
            <a:endParaRPr lang="en-US" altLang="zh-CN" sz="16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16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16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16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-Goal for</a:t>
            </a:r>
            <a:r>
              <a:rPr lang="en-US" altLang="zh-CN" sz="2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 Generation:</a:t>
            </a:r>
            <a:r>
              <a:rPr lang="en-US" altLang="zh-CN" sz="2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24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AGV Trajectory CSV File</a:t>
            </a:r>
            <a:r>
              <a:rPr lang="en-US" alt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Generate a CSV file containing AGV trajectory information for each AGV at each timestamp, including:</a:t>
            </a:r>
            <a:endParaRPr lang="en-US" altLang="zh-CN" sz="16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 - Timestamp</a:t>
            </a:r>
            <a:endParaRPr lang="en-US" altLang="zh-CN" sz="16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 - AGV trajectory coordinates (X, Y)</a:t>
            </a:r>
            <a:endParaRPr lang="en-US" altLang="zh-CN" sz="16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 - Orientation sequence</a:t>
            </a:r>
            <a:endParaRPr lang="en-US" altLang="zh-CN" sz="16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 - Cargo status (whether carrying a package)</a:t>
            </a:r>
            <a:endParaRPr lang="en-US" altLang="zh-CN" sz="16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 - Package destination outlet</a:t>
            </a:r>
            <a:endParaRPr lang="en-US" altLang="zh-CN" sz="16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 - Emergency status (whether it's a high-priority task)</a:t>
            </a:r>
            <a:endParaRPr lang="en-US" altLang="zh-CN" sz="1600" b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925684" y="84203"/>
            <a:ext cx="5820070" cy="523220"/>
            <a:chOff x="390759" y="198201"/>
            <a:chExt cx="6740664" cy="523220"/>
          </a:xfrm>
        </p:grpSpPr>
        <p:sp>
          <p:nvSpPr>
            <p:cNvPr id="19" name="文本框 18"/>
            <p:cNvSpPr txBox="1"/>
            <p:nvPr/>
          </p:nvSpPr>
          <p:spPr>
            <a:xfrm>
              <a:off x="390759" y="198201"/>
              <a:ext cx="5573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dist"/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1.</a:t>
              </a:r>
              <a:endParaRPr lang="zh-CN" altLang="en-US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029463" y="198201"/>
              <a:ext cx="6101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just"/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Instruction</a:t>
              </a:r>
              <a:endParaRPr lang="zh-CN" altLang="en-US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83" name="图片 8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867" y="30650"/>
            <a:ext cx="630327" cy="630327"/>
          </a:xfrm>
          <a:prstGeom prst="rect">
            <a:avLst/>
          </a:prstGeom>
        </p:spPr>
      </p:pic>
      <p:grpSp>
        <p:nvGrpSpPr>
          <p:cNvPr id="69" name="组合 68"/>
          <p:cNvGrpSpPr/>
          <p:nvPr>
            <p:custDataLst>
              <p:tags r:id="rId2"/>
            </p:custDataLst>
          </p:nvPr>
        </p:nvGrpSpPr>
        <p:grpSpPr>
          <a:xfrm>
            <a:off x="4530818" y="722693"/>
            <a:ext cx="7309304" cy="2022896"/>
            <a:chOff x="4380599" y="850562"/>
            <a:chExt cx="7309304" cy="2022896"/>
          </a:xfrm>
        </p:grpSpPr>
        <p:sp>
          <p:nvSpPr>
            <p:cNvPr id="2" name="文本框 1"/>
            <p:cNvSpPr txBox="1"/>
            <p:nvPr>
              <p:custDataLst>
                <p:tags r:id="rId3"/>
              </p:custDataLst>
            </p:nvPr>
          </p:nvSpPr>
          <p:spPr>
            <a:xfrm>
              <a:off x="4380599" y="850562"/>
              <a:ext cx="18014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Cambria" panose="02040503050406030204" pitchFamily="18" charset="0"/>
                </a:rPr>
                <a:t>Challenges</a:t>
              </a:r>
              <a:endParaRPr lang="zh-CN" altLang="en-US" sz="2000" b="1" dirty="0">
                <a:latin typeface="Cambria" panose="02040503050406030204" pitchFamily="18" charset="0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4"/>
              </p:custDataLst>
            </p:nvPr>
          </p:nvSpPr>
          <p:spPr>
            <a:xfrm>
              <a:off x="4441771" y="1305008"/>
              <a:ext cx="7248132" cy="15684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Path planning: Finding collision-free paths for multiple agents </a:t>
              </a:r>
              <a:r>
                <a:rPr lang="en-US" altLang="zh-CN" sz="1600" u="sng" dirty="0">
                  <a:latin typeface="Cambria" panose="02040503050406030204" pitchFamily="18" charset="0"/>
                </a:rPr>
                <a:t>simultaneously</a:t>
              </a:r>
              <a:r>
                <a:rPr lang="en-US" altLang="zh-CN" sz="1600" dirty="0">
                  <a:latin typeface="Cambria" panose="02040503050406030204" pitchFamily="18" charset="0"/>
                </a:rPr>
                <a:t>.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Task Scheduling: </a:t>
              </a:r>
              <a:r>
                <a:rPr lang="en-US" altLang="zh-CN" sz="1600" u="sng" dirty="0">
                  <a:latin typeface="Cambria" panose="02040503050406030204" pitchFamily="18" charset="0"/>
                </a:rPr>
                <a:t>Optimally</a:t>
              </a:r>
              <a:r>
                <a:rPr lang="en-US" altLang="zh-CN" sz="1600" dirty="0">
                  <a:latin typeface="Cambria" panose="02040503050406030204" pitchFamily="18" charset="0"/>
                </a:rPr>
                <a:t> assigning tasks to AGVs based on distance, priority, and availability.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Conflict Resolution: </a:t>
              </a:r>
              <a:r>
                <a:rPr lang="en-US" altLang="zh-CN" sz="1600" u="sng" dirty="0">
                  <a:latin typeface="Cambria" panose="02040503050406030204" pitchFamily="18" charset="0"/>
                </a:rPr>
                <a:t>Collisions, deadlocks </a:t>
              </a:r>
              <a:r>
                <a:rPr lang="en-US" altLang="zh-CN" sz="1600" dirty="0">
                  <a:latin typeface="Cambria" panose="02040503050406030204" pitchFamily="18" charset="0"/>
                </a:rPr>
                <a:t>and head-on cross …</a:t>
              </a:r>
              <a:endParaRPr lang="en-US" altLang="zh-CN" sz="1600" dirty="0">
                <a:latin typeface="Cambria" panose="02040503050406030204" pitchFamily="18" charset="0"/>
              </a:endParaRPr>
            </a:p>
          </p:txBody>
        </p:sp>
      </p:grpSp>
      <p:pic>
        <p:nvPicPr>
          <p:cNvPr id="10" name="图片 9" descr="图表, 散点图&#10;&#10;AI 生成的内容可能不正确。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810" y="2939878"/>
            <a:ext cx="3600000" cy="3600000"/>
          </a:xfrm>
          <a:prstGeom prst="rect">
            <a:avLst/>
          </a:prstGeom>
        </p:spPr>
      </p:pic>
      <p:grpSp>
        <p:nvGrpSpPr>
          <p:cNvPr id="12" name="组合 11"/>
          <p:cNvGrpSpPr/>
          <p:nvPr>
            <p:custDataLst>
              <p:tags r:id="rId6"/>
            </p:custDataLst>
          </p:nvPr>
        </p:nvGrpSpPr>
        <p:grpSpPr>
          <a:xfrm>
            <a:off x="4530818" y="3143149"/>
            <a:ext cx="6788032" cy="1983707"/>
            <a:chOff x="5170347" y="3865851"/>
            <a:chExt cx="6788032" cy="1983707"/>
          </a:xfrm>
        </p:grpSpPr>
        <p:sp>
          <p:nvSpPr>
            <p:cNvPr id="13" name="文本框 12"/>
            <p:cNvSpPr txBox="1"/>
            <p:nvPr>
              <p:custDataLst>
                <p:tags r:id="rId7"/>
              </p:custDataLst>
            </p:nvPr>
          </p:nvSpPr>
          <p:spPr>
            <a:xfrm>
              <a:off x="5170347" y="3865851"/>
              <a:ext cx="18014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Cambria" panose="02040503050406030204" pitchFamily="18" charset="0"/>
                </a:rPr>
                <a:t>Our System</a:t>
              </a:r>
              <a:endParaRPr lang="en-US" altLang="zh-CN" sz="2000" b="1" dirty="0">
                <a:latin typeface="Cambria" panose="02040503050406030204" pitchFamily="18" charset="0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8"/>
              </p:custDataLst>
            </p:nvPr>
          </p:nvSpPr>
          <p:spPr>
            <a:xfrm>
              <a:off x="5192680" y="4325551"/>
              <a:ext cx="6765699" cy="15240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Plan paths: 12 AGVs operate in a 21×21 grid warehouse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Dynamically assign tasks: 6 pickup points → 16 delivery points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Ensure collision-free and deadlock-free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Handle urgent task prioritization and task sequence constraints</a:t>
              </a:r>
              <a:endParaRPr lang="en-US" altLang="zh-CN" sz="1600" dirty="0">
                <a:latin typeface="Cambria" panose="02040503050406030204" pitchFamily="18" charset="0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9"/>
            </p:custDataLst>
          </p:nvPr>
        </p:nvGrpSpPr>
        <p:grpSpPr>
          <a:xfrm>
            <a:off x="4530818" y="5452185"/>
            <a:ext cx="7701242" cy="826436"/>
            <a:chOff x="5192680" y="3915126"/>
            <a:chExt cx="7701242" cy="826436"/>
          </a:xfrm>
        </p:grpSpPr>
        <p:sp>
          <p:nvSpPr>
            <p:cNvPr id="16" name="文本框 15"/>
            <p:cNvSpPr txBox="1"/>
            <p:nvPr>
              <p:custDataLst>
                <p:tags r:id="rId10"/>
              </p:custDataLst>
            </p:nvPr>
          </p:nvSpPr>
          <p:spPr>
            <a:xfrm>
              <a:off x="5192680" y="3915126"/>
              <a:ext cx="50466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Cambria" panose="02040503050406030204" pitchFamily="18" charset="0"/>
                </a:rPr>
                <a:t>Key Programming Packages</a:t>
              </a:r>
              <a:endParaRPr lang="en-US" altLang="zh-CN" sz="2000" b="1" dirty="0">
                <a:latin typeface="Cambria" panose="02040503050406030204" pitchFamily="18" charset="0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11"/>
              </p:custDataLst>
            </p:nvPr>
          </p:nvSpPr>
          <p:spPr>
            <a:xfrm>
              <a:off x="5192680" y="4325551"/>
              <a:ext cx="7701242" cy="4160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Csv, </a:t>
              </a:r>
              <a:r>
                <a:rPr lang="en-US" altLang="zh-CN" sz="1600" dirty="0" err="1">
                  <a:latin typeface="Cambria" panose="02040503050406030204" pitchFamily="18" charset="0"/>
                </a:rPr>
                <a:t>heapq</a:t>
              </a:r>
              <a:r>
                <a:rPr lang="en-US" altLang="zh-CN" sz="1600" dirty="0">
                  <a:latin typeface="Cambria" panose="02040503050406030204" pitchFamily="18" charset="0"/>
                </a:rPr>
                <a:t>, </a:t>
              </a:r>
              <a:r>
                <a:rPr lang="en-US" altLang="zh-CN" sz="1600" dirty="0" err="1">
                  <a:latin typeface="Cambria" panose="02040503050406030204" pitchFamily="18" charset="0"/>
                </a:rPr>
                <a:t>collections.defaultdict</a:t>
              </a:r>
              <a:r>
                <a:rPr lang="en-US" altLang="zh-CN" sz="1600" dirty="0">
                  <a:latin typeface="Cambria" panose="02040503050406030204" pitchFamily="18" charset="0"/>
                </a:rPr>
                <a:t>, pandas, matplotlib &amp; seaborn, </a:t>
              </a:r>
              <a:r>
                <a:rPr lang="en-US" altLang="zh-CN" sz="1600" dirty="0" err="1">
                  <a:latin typeface="Cambria" panose="02040503050406030204" pitchFamily="18" charset="0"/>
                </a:rPr>
                <a:t>pygame</a:t>
              </a:r>
              <a:r>
                <a:rPr lang="en-US" altLang="zh-CN" sz="1600" dirty="0">
                  <a:latin typeface="Cambria" panose="02040503050406030204" pitchFamily="18" charset="0"/>
                </a:rPr>
                <a:t>, </a:t>
              </a:r>
              <a:r>
                <a:rPr lang="en-US" altLang="zh-CN" sz="1600" dirty="0" err="1">
                  <a:latin typeface="Cambria" panose="02040503050406030204" pitchFamily="18" charset="0"/>
                </a:rPr>
                <a:t>numpy</a:t>
              </a:r>
              <a:endParaRPr lang="en-US" altLang="zh-CN" sz="1600" dirty="0">
                <a:latin typeface="Cambria" panose="02040503050406030204" pitchFamily="18" charset="0"/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1144366" y="784527"/>
            <a:ext cx="2492887" cy="1780334"/>
            <a:chOff x="1300993" y="679872"/>
            <a:chExt cx="2492887" cy="1780334"/>
          </a:xfrm>
        </p:grpSpPr>
        <p:sp>
          <p:nvSpPr>
            <p:cNvPr id="62" name="环形箭头 6"/>
            <p:cNvSpPr/>
            <p:nvPr/>
          </p:nvSpPr>
          <p:spPr>
            <a:xfrm rot="3160710">
              <a:off x="2881424" y="1078342"/>
              <a:ext cx="629787" cy="775151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1826568"/>
                <a:gd name="adj5" fmla="val 12500"/>
              </a:avLst>
            </a:prstGeom>
            <a:solidFill>
              <a:srgbClr val="DBE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  <a:spcBef>
                  <a:spcPts val="50"/>
                </a:spcBef>
              </a:pPr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3" name="环形箭头 7"/>
            <p:cNvSpPr/>
            <p:nvPr/>
          </p:nvSpPr>
          <p:spPr>
            <a:xfrm rot="10464281">
              <a:off x="2055863" y="1848619"/>
              <a:ext cx="798219" cy="611587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1826568"/>
                <a:gd name="adj5" fmla="val 12500"/>
              </a:avLst>
            </a:prstGeom>
            <a:solidFill>
              <a:srgbClr val="DBE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  <a:spcBef>
                  <a:spcPts val="50"/>
                </a:spcBef>
              </a:pPr>
              <a:endParaRPr lang="zh-CN" altLang="en-US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4" name="环形箭头 9"/>
            <p:cNvSpPr/>
            <p:nvPr/>
          </p:nvSpPr>
          <p:spPr>
            <a:xfrm rot="17024473">
              <a:off x="1373677" y="1078342"/>
              <a:ext cx="629787" cy="775151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1826568"/>
                <a:gd name="adj5" fmla="val 12500"/>
              </a:avLst>
            </a:prstGeom>
            <a:solidFill>
              <a:srgbClr val="DBEC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30000"/>
                </a:lnSpc>
                <a:spcBef>
                  <a:spcPts val="50"/>
                </a:spcBef>
              </a:pPr>
              <a:endParaRPr lang="zh-CN" altLang="en-US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ct val="130000"/>
                </a:lnSpc>
                <a:spcBef>
                  <a:spcPts val="50"/>
                </a:spcBef>
              </a:pPr>
              <a:endParaRPr lang="zh-CN" altLang="en-US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ct val="130000"/>
                </a:lnSpc>
                <a:spcBef>
                  <a:spcPts val="50"/>
                </a:spcBef>
              </a:pPr>
              <a:endParaRPr lang="zh-CN" altLang="en-US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ct val="130000"/>
                </a:lnSpc>
                <a:spcBef>
                  <a:spcPts val="50"/>
                </a:spcBef>
              </a:pPr>
              <a:endParaRPr lang="zh-CN" altLang="en-US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ct val="130000"/>
                </a:lnSpc>
                <a:spcBef>
                  <a:spcPts val="50"/>
                </a:spcBef>
              </a:pPr>
              <a:endParaRPr lang="zh-CN" altLang="en-US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ct val="130000"/>
                </a:lnSpc>
                <a:spcBef>
                  <a:spcPts val="50"/>
                </a:spcBef>
              </a:pPr>
              <a:endParaRPr lang="zh-CN" altLang="en-US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ct val="130000"/>
                </a:lnSpc>
                <a:spcBef>
                  <a:spcPts val="50"/>
                </a:spcBef>
              </a:pPr>
              <a:endParaRPr lang="zh-CN" altLang="en-US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endParaRPr>
            </a:p>
            <a:p>
              <a:pPr algn="ctr">
                <a:lnSpc>
                  <a:spcPct val="130000"/>
                </a:lnSpc>
                <a:spcBef>
                  <a:spcPts val="50"/>
                </a:spcBef>
              </a:pPr>
              <a:endParaRPr lang="zh-CN" altLang="en-US">
                <a:solidFill>
                  <a:schemeClr val="dk1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65" name="Group 87"/>
            <p:cNvGrpSpPr/>
            <p:nvPr/>
          </p:nvGrpSpPr>
          <p:grpSpPr>
            <a:xfrm>
              <a:off x="1363834" y="2103392"/>
              <a:ext cx="139997" cy="99473"/>
              <a:chOff x="3387901" y="2872777"/>
              <a:chExt cx="294437" cy="265085"/>
            </a:xfrm>
            <a:solidFill>
              <a:schemeClr val="bg1"/>
            </a:solidFill>
          </p:grpSpPr>
          <p:sp>
            <p:nvSpPr>
              <p:cNvPr id="66" name="Freeform 51"/>
              <p:cNvSpPr/>
              <p:nvPr/>
            </p:nvSpPr>
            <p:spPr bwMode="auto">
              <a:xfrm>
                <a:off x="3387901" y="2872777"/>
                <a:ext cx="294437" cy="55057"/>
              </a:xfrm>
              <a:custGeom>
                <a:avLst/>
                <a:gdLst>
                  <a:gd name="T0" fmla="*/ 151 w 1438"/>
                  <a:gd name="T1" fmla="*/ 0 h 302"/>
                  <a:gd name="T2" fmla="*/ 1287 w 1438"/>
                  <a:gd name="T3" fmla="*/ 0 h 302"/>
                  <a:gd name="T4" fmla="*/ 1318 w 1438"/>
                  <a:gd name="T5" fmla="*/ 3 h 302"/>
                  <a:gd name="T6" fmla="*/ 1346 w 1438"/>
                  <a:gd name="T7" fmla="*/ 12 h 302"/>
                  <a:gd name="T8" fmla="*/ 1372 w 1438"/>
                  <a:gd name="T9" fmla="*/ 26 h 302"/>
                  <a:gd name="T10" fmla="*/ 1394 w 1438"/>
                  <a:gd name="T11" fmla="*/ 45 h 302"/>
                  <a:gd name="T12" fmla="*/ 1413 w 1438"/>
                  <a:gd name="T13" fmla="*/ 67 h 302"/>
                  <a:gd name="T14" fmla="*/ 1426 w 1438"/>
                  <a:gd name="T15" fmla="*/ 93 h 302"/>
                  <a:gd name="T16" fmla="*/ 1435 w 1438"/>
                  <a:gd name="T17" fmla="*/ 121 h 302"/>
                  <a:gd name="T18" fmla="*/ 1438 w 1438"/>
                  <a:gd name="T19" fmla="*/ 151 h 302"/>
                  <a:gd name="T20" fmla="*/ 1435 w 1438"/>
                  <a:gd name="T21" fmla="*/ 181 h 302"/>
                  <a:gd name="T22" fmla="*/ 1426 w 1438"/>
                  <a:gd name="T23" fmla="*/ 209 h 302"/>
                  <a:gd name="T24" fmla="*/ 1413 w 1438"/>
                  <a:gd name="T25" fmla="*/ 235 h 302"/>
                  <a:gd name="T26" fmla="*/ 1394 w 1438"/>
                  <a:gd name="T27" fmla="*/ 257 h 302"/>
                  <a:gd name="T28" fmla="*/ 1372 w 1438"/>
                  <a:gd name="T29" fmla="*/ 276 h 302"/>
                  <a:gd name="T30" fmla="*/ 1346 w 1438"/>
                  <a:gd name="T31" fmla="*/ 289 h 302"/>
                  <a:gd name="T32" fmla="*/ 1318 w 1438"/>
                  <a:gd name="T33" fmla="*/ 298 h 302"/>
                  <a:gd name="T34" fmla="*/ 1287 w 1438"/>
                  <a:gd name="T35" fmla="*/ 302 h 302"/>
                  <a:gd name="T36" fmla="*/ 151 w 1438"/>
                  <a:gd name="T37" fmla="*/ 302 h 302"/>
                  <a:gd name="T38" fmla="*/ 121 w 1438"/>
                  <a:gd name="T39" fmla="*/ 298 h 302"/>
                  <a:gd name="T40" fmla="*/ 93 w 1438"/>
                  <a:gd name="T41" fmla="*/ 289 h 302"/>
                  <a:gd name="T42" fmla="*/ 66 w 1438"/>
                  <a:gd name="T43" fmla="*/ 276 h 302"/>
                  <a:gd name="T44" fmla="*/ 44 w 1438"/>
                  <a:gd name="T45" fmla="*/ 257 h 302"/>
                  <a:gd name="T46" fmla="*/ 26 w 1438"/>
                  <a:gd name="T47" fmla="*/ 235 h 302"/>
                  <a:gd name="T48" fmla="*/ 12 w 1438"/>
                  <a:gd name="T49" fmla="*/ 209 h 302"/>
                  <a:gd name="T50" fmla="*/ 4 w 1438"/>
                  <a:gd name="T51" fmla="*/ 181 h 302"/>
                  <a:gd name="T52" fmla="*/ 0 w 1438"/>
                  <a:gd name="T53" fmla="*/ 151 h 302"/>
                  <a:gd name="T54" fmla="*/ 4 w 1438"/>
                  <a:gd name="T55" fmla="*/ 121 h 302"/>
                  <a:gd name="T56" fmla="*/ 12 w 1438"/>
                  <a:gd name="T57" fmla="*/ 93 h 302"/>
                  <a:gd name="T58" fmla="*/ 26 w 1438"/>
                  <a:gd name="T59" fmla="*/ 67 h 302"/>
                  <a:gd name="T60" fmla="*/ 44 w 1438"/>
                  <a:gd name="T61" fmla="*/ 45 h 302"/>
                  <a:gd name="T62" fmla="*/ 66 w 1438"/>
                  <a:gd name="T63" fmla="*/ 26 h 302"/>
                  <a:gd name="T64" fmla="*/ 93 w 1438"/>
                  <a:gd name="T65" fmla="*/ 12 h 302"/>
                  <a:gd name="T66" fmla="*/ 121 w 1438"/>
                  <a:gd name="T67" fmla="*/ 3 h 302"/>
                  <a:gd name="T68" fmla="*/ 151 w 1438"/>
                  <a:gd name="T69" fmla="*/ 0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38" h="302">
                    <a:moveTo>
                      <a:pt x="151" y="0"/>
                    </a:moveTo>
                    <a:lnTo>
                      <a:pt x="1287" y="0"/>
                    </a:lnTo>
                    <a:lnTo>
                      <a:pt x="1318" y="3"/>
                    </a:lnTo>
                    <a:lnTo>
                      <a:pt x="1346" y="12"/>
                    </a:lnTo>
                    <a:lnTo>
                      <a:pt x="1372" y="26"/>
                    </a:lnTo>
                    <a:lnTo>
                      <a:pt x="1394" y="45"/>
                    </a:lnTo>
                    <a:lnTo>
                      <a:pt x="1413" y="67"/>
                    </a:lnTo>
                    <a:lnTo>
                      <a:pt x="1426" y="93"/>
                    </a:lnTo>
                    <a:lnTo>
                      <a:pt x="1435" y="121"/>
                    </a:lnTo>
                    <a:lnTo>
                      <a:pt x="1438" y="151"/>
                    </a:lnTo>
                    <a:lnTo>
                      <a:pt x="1435" y="181"/>
                    </a:lnTo>
                    <a:lnTo>
                      <a:pt x="1426" y="209"/>
                    </a:lnTo>
                    <a:lnTo>
                      <a:pt x="1413" y="235"/>
                    </a:lnTo>
                    <a:lnTo>
                      <a:pt x="1394" y="257"/>
                    </a:lnTo>
                    <a:lnTo>
                      <a:pt x="1372" y="276"/>
                    </a:lnTo>
                    <a:lnTo>
                      <a:pt x="1346" y="289"/>
                    </a:lnTo>
                    <a:lnTo>
                      <a:pt x="1318" y="298"/>
                    </a:lnTo>
                    <a:lnTo>
                      <a:pt x="1287" y="302"/>
                    </a:lnTo>
                    <a:lnTo>
                      <a:pt x="151" y="302"/>
                    </a:lnTo>
                    <a:lnTo>
                      <a:pt x="121" y="298"/>
                    </a:lnTo>
                    <a:lnTo>
                      <a:pt x="93" y="289"/>
                    </a:lnTo>
                    <a:lnTo>
                      <a:pt x="66" y="276"/>
                    </a:lnTo>
                    <a:lnTo>
                      <a:pt x="44" y="257"/>
                    </a:lnTo>
                    <a:lnTo>
                      <a:pt x="26" y="235"/>
                    </a:lnTo>
                    <a:lnTo>
                      <a:pt x="12" y="209"/>
                    </a:lnTo>
                    <a:lnTo>
                      <a:pt x="4" y="181"/>
                    </a:lnTo>
                    <a:lnTo>
                      <a:pt x="0" y="151"/>
                    </a:lnTo>
                    <a:lnTo>
                      <a:pt x="4" y="121"/>
                    </a:lnTo>
                    <a:lnTo>
                      <a:pt x="12" y="93"/>
                    </a:lnTo>
                    <a:lnTo>
                      <a:pt x="26" y="67"/>
                    </a:lnTo>
                    <a:lnTo>
                      <a:pt x="44" y="45"/>
                    </a:lnTo>
                    <a:lnTo>
                      <a:pt x="66" y="26"/>
                    </a:lnTo>
                    <a:lnTo>
                      <a:pt x="93" y="12"/>
                    </a:lnTo>
                    <a:lnTo>
                      <a:pt x="121" y="3"/>
                    </a:lnTo>
                    <a:lnTo>
                      <a:pt x="15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  <a:spcBef>
                    <a:spcPts val="50"/>
                  </a:spcBef>
                </a:pPr>
                <a:endParaRPr lang="en-IN" dirty="0">
                  <a:cs typeface="+mn-ea"/>
                  <a:sym typeface="+mn-lt"/>
                </a:endParaRPr>
              </a:p>
            </p:txBody>
          </p:sp>
          <p:sp>
            <p:nvSpPr>
              <p:cNvPr id="67" name="Freeform 53"/>
              <p:cNvSpPr/>
              <p:nvPr/>
            </p:nvSpPr>
            <p:spPr bwMode="auto">
              <a:xfrm>
                <a:off x="3387901" y="3080767"/>
                <a:ext cx="178928" cy="57095"/>
              </a:xfrm>
              <a:custGeom>
                <a:avLst/>
                <a:gdLst>
                  <a:gd name="T0" fmla="*/ 151 w 870"/>
                  <a:gd name="T1" fmla="*/ 0 h 301"/>
                  <a:gd name="T2" fmla="*/ 720 w 870"/>
                  <a:gd name="T3" fmla="*/ 0 h 301"/>
                  <a:gd name="T4" fmla="*/ 750 w 870"/>
                  <a:gd name="T5" fmla="*/ 4 h 301"/>
                  <a:gd name="T6" fmla="*/ 778 w 870"/>
                  <a:gd name="T7" fmla="*/ 12 h 301"/>
                  <a:gd name="T8" fmla="*/ 805 w 870"/>
                  <a:gd name="T9" fmla="*/ 26 h 301"/>
                  <a:gd name="T10" fmla="*/ 827 w 870"/>
                  <a:gd name="T11" fmla="*/ 44 h 301"/>
                  <a:gd name="T12" fmla="*/ 845 w 870"/>
                  <a:gd name="T13" fmla="*/ 67 h 301"/>
                  <a:gd name="T14" fmla="*/ 859 w 870"/>
                  <a:gd name="T15" fmla="*/ 92 h 301"/>
                  <a:gd name="T16" fmla="*/ 867 w 870"/>
                  <a:gd name="T17" fmla="*/ 120 h 301"/>
                  <a:gd name="T18" fmla="*/ 870 w 870"/>
                  <a:gd name="T19" fmla="*/ 151 h 301"/>
                  <a:gd name="T20" fmla="*/ 867 w 870"/>
                  <a:gd name="T21" fmla="*/ 181 h 301"/>
                  <a:gd name="T22" fmla="*/ 859 w 870"/>
                  <a:gd name="T23" fmla="*/ 209 h 301"/>
                  <a:gd name="T24" fmla="*/ 845 w 870"/>
                  <a:gd name="T25" fmla="*/ 234 h 301"/>
                  <a:gd name="T26" fmla="*/ 827 w 870"/>
                  <a:gd name="T27" fmla="*/ 257 h 301"/>
                  <a:gd name="T28" fmla="*/ 805 w 870"/>
                  <a:gd name="T29" fmla="*/ 275 h 301"/>
                  <a:gd name="T30" fmla="*/ 778 w 870"/>
                  <a:gd name="T31" fmla="*/ 290 h 301"/>
                  <a:gd name="T32" fmla="*/ 750 w 870"/>
                  <a:gd name="T33" fmla="*/ 298 h 301"/>
                  <a:gd name="T34" fmla="*/ 720 w 870"/>
                  <a:gd name="T35" fmla="*/ 301 h 301"/>
                  <a:gd name="T36" fmla="*/ 151 w 870"/>
                  <a:gd name="T37" fmla="*/ 301 h 301"/>
                  <a:gd name="T38" fmla="*/ 121 w 870"/>
                  <a:gd name="T39" fmla="*/ 298 h 301"/>
                  <a:gd name="T40" fmla="*/ 93 w 870"/>
                  <a:gd name="T41" fmla="*/ 290 h 301"/>
                  <a:gd name="T42" fmla="*/ 66 w 870"/>
                  <a:gd name="T43" fmla="*/ 275 h 301"/>
                  <a:gd name="T44" fmla="*/ 44 w 870"/>
                  <a:gd name="T45" fmla="*/ 257 h 301"/>
                  <a:gd name="T46" fmla="*/ 26 w 870"/>
                  <a:gd name="T47" fmla="*/ 234 h 301"/>
                  <a:gd name="T48" fmla="*/ 12 w 870"/>
                  <a:gd name="T49" fmla="*/ 209 h 301"/>
                  <a:gd name="T50" fmla="*/ 4 w 870"/>
                  <a:gd name="T51" fmla="*/ 181 h 301"/>
                  <a:gd name="T52" fmla="*/ 0 w 870"/>
                  <a:gd name="T53" fmla="*/ 151 h 301"/>
                  <a:gd name="T54" fmla="*/ 4 w 870"/>
                  <a:gd name="T55" fmla="*/ 120 h 301"/>
                  <a:gd name="T56" fmla="*/ 12 w 870"/>
                  <a:gd name="T57" fmla="*/ 92 h 301"/>
                  <a:gd name="T58" fmla="*/ 26 w 870"/>
                  <a:gd name="T59" fmla="*/ 67 h 301"/>
                  <a:gd name="T60" fmla="*/ 44 w 870"/>
                  <a:gd name="T61" fmla="*/ 44 h 301"/>
                  <a:gd name="T62" fmla="*/ 66 w 870"/>
                  <a:gd name="T63" fmla="*/ 26 h 301"/>
                  <a:gd name="T64" fmla="*/ 93 w 870"/>
                  <a:gd name="T65" fmla="*/ 12 h 301"/>
                  <a:gd name="T66" fmla="*/ 121 w 870"/>
                  <a:gd name="T67" fmla="*/ 4 h 301"/>
                  <a:gd name="T68" fmla="*/ 151 w 870"/>
                  <a:gd name="T69" fmla="*/ 0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70" h="301">
                    <a:moveTo>
                      <a:pt x="151" y="0"/>
                    </a:moveTo>
                    <a:lnTo>
                      <a:pt x="720" y="0"/>
                    </a:lnTo>
                    <a:lnTo>
                      <a:pt x="750" y="4"/>
                    </a:lnTo>
                    <a:lnTo>
                      <a:pt x="778" y="12"/>
                    </a:lnTo>
                    <a:lnTo>
                      <a:pt x="805" y="26"/>
                    </a:lnTo>
                    <a:lnTo>
                      <a:pt x="827" y="44"/>
                    </a:lnTo>
                    <a:lnTo>
                      <a:pt x="845" y="67"/>
                    </a:lnTo>
                    <a:lnTo>
                      <a:pt x="859" y="92"/>
                    </a:lnTo>
                    <a:lnTo>
                      <a:pt x="867" y="120"/>
                    </a:lnTo>
                    <a:lnTo>
                      <a:pt x="870" y="151"/>
                    </a:lnTo>
                    <a:lnTo>
                      <a:pt x="867" y="181"/>
                    </a:lnTo>
                    <a:lnTo>
                      <a:pt x="859" y="209"/>
                    </a:lnTo>
                    <a:lnTo>
                      <a:pt x="845" y="234"/>
                    </a:lnTo>
                    <a:lnTo>
                      <a:pt x="827" y="257"/>
                    </a:lnTo>
                    <a:lnTo>
                      <a:pt x="805" y="275"/>
                    </a:lnTo>
                    <a:lnTo>
                      <a:pt x="778" y="290"/>
                    </a:lnTo>
                    <a:lnTo>
                      <a:pt x="750" y="298"/>
                    </a:lnTo>
                    <a:lnTo>
                      <a:pt x="720" y="301"/>
                    </a:lnTo>
                    <a:lnTo>
                      <a:pt x="151" y="301"/>
                    </a:lnTo>
                    <a:lnTo>
                      <a:pt x="121" y="298"/>
                    </a:lnTo>
                    <a:lnTo>
                      <a:pt x="93" y="290"/>
                    </a:lnTo>
                    <a:lnTo>
                      <a:pt x="66" y="275"/>
                    </a:lnTo>
                    <a:lnTo>
                      <a:pt x="44" y="257"/>
                    </a:lnTo>
                    <a:lnTo>
                      <a:pt x="26" y="234"/>
                    </a:lnTo>
                    <a:lnTo>
                      <a:pt x="12" y="209"/>
                    </a:lnTo>
                    <a:lnTo>
                      <a:pt x="4" y="181"/>
                    </a:lnTo>
                    <a:lnTo>
                      <a:pt x="0" y="151"/>
                    </a:lnTo>
                    <a:lnTo>
                      <a:pt x="4" y="120"/>
                    </a:lnTo>
                    <a:lnTo>
                      <a:pt x="12" y="92"/>
                    </a:lnTo>
                    <a:lnTo>
                      <a:pt x="26" y="67"/>
                    </a:lnTo>
                    <a:lnTo>
                      <a:pt x="44" y="44"/>
                    </a:lnTo>
                    <a:lnTo>
                      <a:pt x="66" y="26"/>
                    </a:lnTo>
                    <a:lnTo>
                      <a:pt x="93" y="12"/>
                    </a:lnTo>
                    <a:lnTo>
                      <a:pt x="121" y="4"/>
                    </a:lnTo>
                    <a:lnTo>
                      <a:pt x="151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30000"/>
                  </a:lnSpc>
                  <a:spcBef>
                    <a:spcPts val="50"/>
                  </a:spcBef>
                </a:pPr>
                <a:endParaRPr lang="en-IN" dirty="0">
                  <a:cs typeface="+mn-ea"/>
                  <a:sym typeface="+mn-lt"/>
                </a:endParaRPr>
              </a:p>
            </p:txBody>
          </p:sp>
        </p:grpSp>
        <p:sp>
          <p:nvSpPr>
            <p:cNvPr id="23" name="文本框 22"/>
            <p:cNvSpPr txBox="1"/>
            <p:nvPr/>
          </p:nvSpPr>
          <p:spPr>
            <a:xfrm>
              <a:off x="1644018" y="679872"/>
              <a:ext cx="1521487" cy="87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zh-CN" dirty="0">
                  <a:latin typeface="Cambria" panose="02040503050406030204" pitchFamily="18" charset="0"/>
                </a:rPr>
                <a:t>Applications in Robotics</a:t>
              </a:r>
              <a:endParaRPr lang="en-US" altLang="zh-CN" dirty="0">
                <a:latin typeface="Cambria" panose="02040503050406030204" pitchFamily="18" charset="0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663970" y="1607265"/>
              <a:ext cx="1129910" cy="456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>
                  <a:latin typeface="Cambria" panose="02040503050406030204" pitchFamily="18" charset="0"/>
                </a:rPr>
                <a:t>Logistics</a:t>
              </a:r>
              <a:endParaRPr lang="en-US" altLang="zh-CN" dirty="0">
                <a:latin typeface="Cambria" panose="02040503050406030204" pitchFamily="18" charset="0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300993" y="1624998"/>
              <a:ext cx="1103768" cy="456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dirty="0">
                  <a:latin typeface="Cambria" panose="02040503050406030204" pitchFamily="18" charset="0"/>
                </a:rPr>
                <a:t>Game AI</a:t>
              </a:r>
              <a:endParaRPr lang="en-US" altLang="zh-CN" dirty="0">
                <a:latin typeface="Cambria" panose="02040503050406030204" pitchFamily="18" charset="0"/>
              </a:endParaRPr>
            </a:p>
          </p:txBody>
        </p:sp>
      </p:grpSp>
    </p:spTree>
    <p:custDataLst>
      <p:tags r:id="rId12"/>
    </p:custData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928171" y="84203"/>
            <a:ext cx="5817583" cy="521970"/>
            <a:chOff x="393639" y="198201"/>
            <a:chExt cx="6737784" cy="521970"/>
          </a:xfrm>
        </p:grpSpPr>
        <p:sp>
          <p:nvSpPr>
            <p:cNvPr id="19" name="文本框 18"/>
            <p:cNvSpPr txBox="1"/>
            <p:nvPr/>
          </p:nvSpPr>
          <p:spPr>
            <a:xfrm>
              <a:off x="393639" y="198201"/>
              <a:ext cx="551581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dist"/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0.</a:t>
              </a:r>
              <a:endParaRPr lang="zh-CN" altLang="en-US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029463" y="198201"/>
              <a:ext cx="61019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just"/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Intruduction</a:t>
              </a:r>
              <a:endParaRPr lang="zh-CN" altLang="en-US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83" name="图片 8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867" y="30650"/>
            <a:ext cx="630327" cy="630327"/>
          </a:xfrm>
          <a:prstGeom prst="rect">
            <a:avLst/>
          </a:prstGeom>
        </p:spPr>
      </p:pic>
      <p:pic>
        <p:nvPicPr>
          <p:cNvPr id="2" name="图片 1" descr="collision_dem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370" y="1220470"/>
            <a:ext cx="4947285" cy="4947285"/>
          </a:xfrm>
          <a:prstGeom prst="rect">
            <a:avLst/>
          </a:prstGeom>
        </p:spPr>
      </p:pic>
      <p:pic>
        <p:nvPicPr>
          <p:cNvPr id="4" name="图片 3" descr="swap_dem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510" y="1250315"/>
            <a:ext cx="4917440" cy="49174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990975" y="852170"/>
            <a:ext cx="7292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 Head-on Crossing &amp; Swap </a:t>
            </a:r>
            <a:r>
              <a:rPr lang="en-US" altLang="zh-CN" sz="1200"/>
              <a:t>(gifs, please play the ppt to see)</a:t>
            </a:r>
            <a:endParaRPr lang="en-US" altLang="zh-CN" sz="1200"/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925684" y="84203"/>
            <a:ext cx="5820070" cy="523220"/>
            <a:chOff x="390759" y="198201"/>
            <a:chExt cx="6740664" cy="523220"/>
          </a:xfrm>
        </p:grpSpPr>
        <p:sp>
          <p:nvSpPr>
            <p:cNvPr id="19" name="文本框 18"/>
            <p:cNvSpPr txBox="1"/>
            <p:nvPr/>
          </p:nvSpPr>
          <p:spPr>
            <a:xfrm>
              <a:off x="390759" y="198201"/>
              <a:ext cx="5573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dist"/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1.</a:t>
              </a:r>
              <a:endParaRPr lang="zh-CN" altLang="en-US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029463" y="198201"/>
              <a:ext cx="6101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just"/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Instruction</a:t>
              </a:r>
              <a:endParaRPr lang="zh-CN" altLang="en-US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83" name="图片 8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867" y="30650"/>
            <a:ext cx="630327" cy="630327"/>
          </a:xfrm>
          <a:prstGeom prst="rect">
            <a:avLst/>
          </a:prstGeom>
        </p:spPr>
      </p:pic>
      <p:grpSp>
        <p:nvGrpSpPr>
          <p:cNvPr id="69" name="组合 68"/>
          <p:cNvGrpSpPr/>
          <p:nvPr/>
        </p:nvGrpSpPr>
        <p:grpSpPr>
          <a:xfrm>
            <a:off x="1477158" y="1004351"/>
            <a:ext cx="10937912" cy="2606740"/>
            <a:chOff x="4380599" y="850562"/>
            <a:chExt cx="7248132" cy="4594554"/>
          </a:xfrm>
        </p:grpSpPr>
        <p:sp>
          <p:nvSpPr>
            <p:cNvPr id="2" name="文本框 1"/>
            <p:cNvSpPr txBox="1"/>
            <p:nvPr/>
          </p:nvSpPr>
          <p:spPr>
            <a:xfrm>
              <a:off x="4380599" y="850562"/>
              <a:ext cx="18014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Cambria" panose="02040503050406030204" pitchFamily="18" charset="0"/>
                </a:rPr>
                <a:t>Features</a:t>
              </a:r>
              <a:endParaRPr lang="zh-CN" altLang="en-US" sz="2000" b="1" dirty="0">
                <a:latin typeface="Cambria" panose="02040503050406030204" pitchFamily="18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380599" y="1705118"/>
              <a:ext cx="7248132" cy="3739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Multi-Agent Path Planning: A* algorithm with temporal constraints for collision-free pathfinding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Dynamic Task Allocation: Cost-matrix-based greedy assignment with priority handling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Conflict Resolution: Prevents collisions and path swaps through forward-looking prediction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Real-time Visualization: Interactive </a:t>
              </a:r>
              <a:r>
                <a:rPr lang="en-US" altLang="zh-CN" sz="1600" dirty="0" err="1">
                  <a:latin typeface="Cambria" panose="02040503050406030204" pitchFamily="18" charset="0"/>
                </a:rPr>
                <a:t>pygame</a:t>
              </a:r>
              <a:r>
                <a:rPr lang="en-US" altLang="zh-CN" sz="1600" dirty="0">
                  <a:latin typeface="Cambria" panose="02040503050406030204" pitchFamily="18" charset="0"/>
                </a:rPr>
                <a:t>-based visualization with video export capability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Task Sequence Management: Ensures tasks are picked up in correct order from each pickup point</a:t>
              </a:r>
              <a:endParaRPr lang="en-US" altLang="zh-CN" sz="1600" dirty="0">
                <a:latin typeface="Cambria" panose="02040503050406030204" pitchFamily="18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477158" y="3611091"/>
            <a:ext cx="6706723" cy="2595069"/>
            <a:chOff x="1477158" y="3779822"/>
            <a:chExt cx="6706723" cy="2595069"/>
          </a:xfrm>
        </p:grpSpPr>
        <p:sp>
          <p:nvSpPr>
            <p:cNvPr id="16" name="文本框 15"/>
            <p:cNvSpPr txBox="1"/>
            <p:nvPr/>
          </p:nvSpPr>
          <p:spPr>
            <a:xfrm>
              <a:off x="1477158" y="3779822"/>
              <a:ext cx="50466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Cambria" panose="02040503050406030204" pitchFamily="18" charset="0"/>
                </a:rPr>
                <a:t>Final Version</a:t>
              </a:r>
              <a:endParaRPr lang="en-US" altLang="zh-CN" sz="2000" b="1" dirty="0">
                <a:latin typeface="Cambria" panose="02040503050406030204" pitchFamily="18" charset="0"/>
              </a:endParaRPr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rcRect t="12758" b="1581"/>
            <a:stretch>
              <a:fillRect/>
            </a:stretch>
          </p:blipFill>
          <p:spPr>
            <a:xfrm>
              <a:off x="1477159" y="4472760"/>
              <a:ext cx="6706722" cy="1902131"/>
            </a:xfrm>
            <a:prstGeom prst="rect">
              <a:avLst/>
            </a:prstGeom>
          </p:spPr>
        </p:pic>
      </p:grpSp>
    </p:spTree>
    <p:custDataLst>
      <p:tags r:id="rId3"/>
    </p:custData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925684" y="84203"/>
            <a:ext cx="5820070" cy="523220"/>
            <a:chOff x="390759" y="198201"/>
            <a:chExt cx="6740664" cy="523220"/>
          </a:xfrm>
        </p:grpSpPr>
        <p:sp>
          <p:nvSpPr>
            <p:cNvPr id="19" name="文本框 18"/>
            <p:cNvSpPr txBox="1"/>
            <p:nvPr/>
          </p:nvSpPr>
          <p:spPr>
            <a:xfrm>
              <a:off x="390759" y="198201"/>
              <a:ext cx="5573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dist"/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2.</a:t>
              </a:r>
              <a:endParaRPr lang="zh-CN" altLang="en-US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029463" y="198201"/>
              <a:ext cx="61019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just"/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Data Collection</a:t>
              </a:r>
              <a:endParaRPr lang="zh-CN" altLang="en-US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83" name="图片 8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867" y="30650"/>
            <a:ext cx="630327" cy="630327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433296" y="811750"/>
            <a:ext cx="5268596" cy="2351594"/>
            <a:chOff x="1183183" y="836767"/>
            <a:chExt cx="9822898" cy="1566565"/>
          </a:xfrm>
        </p:grpSpPr>
        <p:sp>
          <p:nvSpPr>
            <p:cNvPr id="2" name="文本框 1"/>
            <p:cNvSpPr txBox="1"/>
            <p:nvPr/>
          </p:nvSpPr>
          <p:spPr>
            <a:xfrm>
              <a:off x="1183183" y="836767"/>
              <a:ext cx="60047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Cambria" panose="02040503050406030204" pitchFamily="18" charset="0"/>
                </a:rPr>
                <a:t>Dataset Overview</a:t>
              </a:r>
              <a:endParaRPr lang="zh-CN" altLang="en-US" sz="2000" b="1" dirty="0">
                <a:latin typeface="Cambria" panose="02040503050406030204" pitchFamily="18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183183" y="1142043"/>
              <a:ext cx="9822898" cy="1261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solidFill>
                    <a:schemeClr val="bg1"/>
                  </a:solidFill>
                  <a:highlight>
                    <a:srgbClr val="0759A2"/>
                  </a:highlight>
                  <a:latin typeface="Cambria" panose="02040503050406030204" pitchFamily="18" charset="0"/>
                </a:rPr>
                <a:t> agv_position.csv </a:t>
              </a:r>
              <a:r>
                <a:rPr lang="en-US" altLang="zh-CN" sz="1600" dirty="0">
                  <a:latin typeface="Cambria" panose="02040503050406030204" pitchFamily="18" charset="0"/>
                </a:rPr>
                <a:t>: </a:t>
              </a:r>
              <a:r>
                <a:rPr lang="en-US" altLang="zh-CN" sz="1600" u="sng" dirty="0">
                  <a:latin typeface="Cambria" panose="02040503050406030204" pitchFamily="18" charset="0"/>
                </a:rPr>
                <a:t>Defines</a:t>
              </a:r>
              <a:r>
                <a:rPr lang="en-US" altLang="zh-CN" sz="1600" dirty="0">
                  <a:latin typeface="Cambria" panose="02040503050406030204" pitchFamily="18" charset="0"/>
                </a:rPr>
                <a:t> the warehouse layout and initial AGV positions.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solidFill>
                    <a:schemeClr val="bg1"/>
                  </a:solidFill>
                  <a:highlight>
                    <a:srgbClr val="0759A2"/>
                  </a:highlight>
                  <a:latin typeface="Cambria" panose="02040503050406030204" pitchFamily="18" charset="0"/>
                </a:rPr>
                <a:t> agv_task.csv </a:t>
              </a:r>
              <a:r>
                <a:rPr lang="en-US" altLang="zh-CN" sz="1600" dirty="0">
                  <a:latin typeface="Cambria" panose="02040503050406030204" pitchFamily="18" charset="0"/>
                </a:rPr>
                <a:t>: Contains </a:t>
              </a:r>
              <a:r>
                <a:rPr lang="en-US" altLang="zh-CN" sz="1600" u="sng" dirty="0">
                  <a:latin typeface="Cambria" panose="02040503050406030204" pitchFamily="18" charset="0"/>
                </a:rPr>
                <a:t>all tasks </a:t>
              </a:r>
              <a:r>
                <a:rPr lang="en-US" altLang="zh-CN" sz="1600" dirty="0">
                  <a:latin typeface="Cambria" panose="02040503050406030204" pitchFamily="18" charset="0"/>
                </a:rPr>
                <a:t>to be executed by AGVs.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solidFill>
                    <a:schemeClr val="bg1"/>
                  </a:solidFill>
                  <a:highlight>
                    <a:srgbClr val="0759A2"/>
                  </a:highlight>
                  <a:latin typeface="Cambria" panose="02040503050406030204" pitchFamily="18" charset="0"/>
                </a:rPr>
                <a:t> agv_trajectory.csv </a:t>
              </a:r>
              <a:r>
                <a:rPr lang="en-US" altLang="zh-CN" sz="1600" dirty="0">
                  <a:latin typeface="Cambria" panose="02040503050406030204" pitchFamily="18" charset="0"/>
                </a:rPr>
                <a:t>: Generated output containing the </a:t>
              </a:r>
              <a:r>
                <a:rPr lang="en-US" altLang="zh-CN" sz="1600" u="sng" dirty="0">
                  <a:latin typeface="Cambria" panose="02040503050406030204" pitchFamily="18" charset="0"/>
                </a:rPr>
                <a:t>complete trajectory</a:t>
              </a:r>
              <a:r>
                <a:rPr lang="en-US" altLang="zh-CN" sz="1600" dirty="0">
                  <a:latin typeface="Cambria" panose="02040503050406030204" pitchFamily="18" charset="0"/>
                </a:rPr>
                <a:t> of all AGVs.</a:t>
              </a:r>
              <a:endParaRPr lang="en-US" altLang="zh-CN" sz="1600" dirty="0">
                <a:latin typeface="Cambria" panose="02040503050406030204" pitchFamily="18" charset="0"/>
              </a:endParaRPr>
            </a:p>
          </p:txBody>
        </p:sp>
      </p:grp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96" y="3455124"/>
            <a:ext cx="3240000" cy="3240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rcRect r="3233"/>
          <a:stretch>
            <a:fillRect/>
          </a:stretch>
        </p:blipFill>
        <p:spPr>
          <a:xfrm>
            <a:off x="4081751" y="3510359"/>
            <a:ext cx="7676953" cy="3142592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6096000" y="1270005"/>
            <a:ext cx="5661612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Cambria" panose="02040503050406030204" pitchFamily="18" charset="0"/>
              </a:rPr>
              <a:t>Warehouse Layout: 20×20 grid</a:t>
            </a:r>
            <a:endParaRPr lang="en-US" altLang="zh-CN" sz="1600" dirty="0">
              <a:latin typeface="Cambria" panose="020405030504060302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Cambria" panose="02040503050406030204" pitchFamily="18" charset="0"/>
              </a:rPr>
              <a:t>Pickup Points: (6 - Tiger, Dragon, Horse, Rabbit, Ox, Monkey) </a:t>
            </a:r>
            <a:endParaRPr lang="en-US" altLang="zh-CN" sz="1600" dirty="0">
              <a:latin typeface="Cambria" panose="020405030504060302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Cambria" panose="02040503050406030204" pitchFamily="18" charset="0"/>
              </a:rPr>
              <a:t>Delivery Points: (16 - Beijing, Shanghai, Guangzhou, etc.)</a:t>
            </a:r>
            <a:endParaRPr lang="en-US" altLang="zh-CN" sz="1600" dirty="0">
              <a:latin typeface="Cambria" panose="020405030504060302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Cambria" panose="02040503050406030204" pitchFamily="18" charset="0"/>
              </a:rPr>
              <a:t>AGV Fleet: (12 - Optimus, Bumblebee, Jazz, etc.)</a:t>
            </a:r>
            <a:endParaRPr lang="en-US" altLang="zh-CN" sz="1600" dirty="0">
              <a:latin typeface="Cambria" panose="020405030504060302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Cambria" panose="02040503050406030204" pitchFamily="18" charset="0"/>
              </a:rPr>
              <a:t>Task Set: (102 - Normal/Urgent)</a:t>
            </a:r>
            <a:endParaRPr lang="en-US" altLang="zh-CN" sz="1600" dirty="0">
              <a:latin typeface="Cambria" panose="020405030504060302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96000" y="811750"/>
            <a:ext cx="2871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Cambria" panose="02040503050406030204" pitchFamily="18" charset="0"/>
              </a:rPr>
              <a:t>Process</a:t>
            </a:r>
            <a:endParaRPr lang="zh-CN" altLang="en-US" sz="2000" b="1" dirty="0">
              <a:latin typeface="Cambria" panose="02040503050406030204" pitchFamily="18" charset="0"/>
            </a:endParaRPr>
          </a:p>
        </p:txBody>
      </p:sp>
    </p:spTree>
    <p:custDataLst>
      <p:tags r:id="rId4"/>
    </p:custData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927735" y="84455"/>
            <a:ext cx="30238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just">
              <a:buClrTx/>
              <a:buSzTx/>
              <a:buFontTx/>
            </a:pPr>
            <a:r>
              <a:rPr lang="en-US" altLang="zh-CN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3.1 Data Cleaning</a:t>
            </a:r>
            <a:endParaRPr lang="en-US" altLang="zh-CN" b="1" dirty="0">
              <a:solidFill>
                <a:srgbClr val="266080"/>
              </a:solidFill>
              <a:latin typeface="Cambria" panose="02040503050406030204" pitchFamily="18" charset="0"/>
              <a:ea typeface="宋体" panose="02010600030101010101" pitchFamily="2" charset="-122"/>
            </a:endParaRPr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867" y="30650"/>
            <a:ext cx="630327" cy="63032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96875" y="1873885"/>
            <a:ext cx="11567795" cy="3110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Missing value check: Check for null/missing values in each dataset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Use isnull().sum() Count the number of missing items in each column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lvl="1" indent="0">
              <a:buFont typeface="Arial" panose="020B0604020202020204" pitchFamily="34" charset="0"/>
              <a:buNone/>
            </a:pP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Duplicate data detection: Identify and count duplicate data entries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Use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duplicated().sum() Count the number of duplicate rows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lvl="1" indent="0">
              <a:buFont typeface="Arial" panose="020B0604020202020204" pitchFamily="34" charset="0"/>
              <a:buNone/>
            </a:pP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Data Quality Assessment Process :  check for missing values </a:t>
            </a:r>
            <a:r>
              <a:rPr lang="en-US" altLang="en-US" sz="1600"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  check for duplicate data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Clear output: Use separators and formatted printing to improve readability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Strong scalability: can easily add other validation rules (such as data types, scope checks)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lvl="1" indent="0">
              <a:buFont typeface="Arial" panose="020B0604020202020204" pitchFamily="34" charset="0"/>
              <a:buNone/>
            </a:pP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buAutoNum type="arabicPeriod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Actual operation result analysis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Location data: pitch There is a design deficiency in the field (which does not affect the core functionality)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Task data: remaining_time Field is empty when task is not executed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lvl="0" indent="0">
              <a:buNone/>
            </a:pPr>
            <a:endParaRPr lang="en-US" altLang="zh-CN" sz="1600">
              <a:solidFill>
                <a:schemeClr val="tx1"/>
              </a:solidFill>
            </a:endParaRPr>
          </a:p>
          <a:p>
            <a:endParaRPr lang="en-US" altLang="zh-CN" sz="1600"/>
          </a:p>
          <a:p>
            <a:pPr lvl="0" indent="0">
              <a:buNone/>
            </a:pPr>
            <a:endParaRPr lang="en-US" altLang="zh-CN" sz="1600">
              <a:solidFill>
                <a:schemeClr val="tx1"/>
              </a:solidFill>
            </a:endParaRPr>
          </a:p>
          <a:p>
            <a:pPr indent="0">
              <a:buNone/>
            </a:pPr>
            <a:endParaRPr lang="en-US" altLang="zh-CN" sz="160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867" y="30650"/>
            <a:ext cx="630327" cy="630327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840105" y="30480"/>
            <a:ext cx="302387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dist"/>
            <a:r>
              <a:rPr lang="en-US" altLang="zh-CN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3.1 Data Cleaning</a:t>
            </a:r>
            <a:endParaRPr lang="en-US" altLang="zh-CN" dirty="0">
              <a:solidFill>
                <a:srgbClr val="266080"/>
              </a:solidFill>
              <a:latin typeface="036-上首金牛体" panose="02010609000101010101" pitchFamily="49" charset="-122"/>
              <a:ea typeface="036-上首金牛体" panose="0201060900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8765" y="770255"/>
            <a:ext cx="1114298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 loading and preprocessing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From CSV File loading warehouse layout, tasks, and AGV Initial state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get_object_position()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parse location CSV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Separate the starting point, ending point, and AGV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get_task_list()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Read task list grouped by starting point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csv.DictReader Perform structured reading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0" indent="-342900">
              <a:buFont typeface="Arial" panose="020B0604020202020204" pitchFamily="34" charset="0"/>
              <a:buAutoNum type="arabicPeriod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State initialization and modeling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get_agv_state()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For each AGV Create a state dictionary: including location and task ID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Key information such as path and loading status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get_task_state()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Convert original tasks into executable format: calculate pick-up points, unloading points, and emergency task tags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0" indent="-342900">
              <a:buFont typeface="Arial" panose="020B0604020202020204" pitchFamily="34" charset="0"/>
              <a:buAutoNum type="arabicPeriod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Coordinate and Position Calculation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get_pickup_coord()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Calculate the exact pickup location based on the starting point type: the starting point on the east side is offset to the right, and the starting point on the west side is offset to the left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get_end_points()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Generate 4 optional locations around each unloading point to avoid congestion and improve scheduling flexibility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0" indent="-342900">
              <a:buFont typeface="Arial" panose="020B0604020202020204" pitchFamily="34" charset="0"/>
              <a:buAutoNum type="arabicPeriod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Emergency task processing logic: detect task priority field 'Urgent'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0" indent="-342900">
              <a:buFont typeface="Arial" panose="020B0604020202020204" pitchFamily="34" charset="0"/>
              <a:buAutoNum type="arabicPeriod"/>
            </a:pP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0" indent="-342900">
              <a:buFont typeface="Arial" panose="020B0604020202020204" pitchFamily="34" charset="0"/>
              <a:buAutoNum type="arabicPeriod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Trajectory recording and output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append_to_csv()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Write simulation steps into trajectory file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867" y="30650"/>
            <a:ext cx="630327" cy="630327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005205" y="30480"/>
            <a:ext cx="40728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dist"/>
            <a:r>
              <a:rPr lang="en-US" altLang="zh-CN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3.2 Feature Engineering</a:t>
            </a:r>
            <a:endParaRPr lang="en-US" altLang="zh-CN" dirty="0">
              <a:solidFill>
                <a:srgbClr val="266080"/>
              </a:solidFill>
              <a:latin typeface="036-上首金牛体" panose="02010609000101010101" pitchFamily="49" charset="-122"/>
              <a:ea typeface="036-上首金牛体" panose="0201060900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10820" y="1167130"/>
            <a:ext cx="607123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Selection of Distance Measurement Methods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Using Manhattan distance: |x1-x2| + |y1-y2|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Implementation method: manhattan_distance() Simple and efficient functions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0" indent="-342900">
              <a:buFont typeface="Arial" panose="020B0604020202020204" pitchFamily="34" charset="0"/>
              <a:buAutoNum type="arabicPeriod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Coordinate data preprocessing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start_positions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Map the starting point name to the (x, y) coordinates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end_positions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Map the endpoint name to the (x, y) coordinates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lvl="0" indent="-342900">
              <a:buFont typeface="Arial" panose="020B0604020202020204" pitchFamily="34" charset="0"/>
              <a:buAutoNum type="arabicPeriod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Feature engineering implementation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Distance feature addition:  task_df['distance'] 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apply Function application: Calculate the distance from the starting point to the endpoint for each task line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lambda Expression: Concise implementation of line by line coordinate extraction and calculation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595110" y="1251585"/>
            <a:ext cx="5410835" cy="4509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400"/>
              <a:t>Step 1: Data Loading</a:t>
            </a:r>
            <a:endParaRPr lang="en-US" altLang="zh-CN" sz="1400"/>
          </a:p>
          <a:p>
            <a:r>
              <a:rPr lang="en-US" altLang="zh-CN" sz="1400"/>
              <a:t>    </a:t>
            </a:r>
            <a:r>
              <a:rPr lang="en-US" altLang="en-US" sz="1400"/>
              <a:t>├──</a:t>
            </a:r>
            <a:r>
              <a:rPr lang="en-US" altLang="zh-CN" sz="1400"/>
              <a:t> Read start_points.csv </a:t>
            </a:r>
            <a:r>
              <a:rPr lang="en-US" altLang="en-US" sz="1400"/>
              <a:t>→</a:t>
            </a:r>
            <a:r>
              <a:rPr lang="en-US" altLang="zh-CN" sz="1400"/>
              <a:t> Dictionary: {name: (x,y)}</a:t>
            </a:r>
            <a:endParaRPr lang="en-US" altLang="zh-CN" sz="1400"/>
          </a:p>
          <a:p>
            <a:r>
              <a:rPr lang="en-US" altLang="zh-CN" sz="1400"/>
              <a:t>    </a:t>
            </a:r>
            <a:r>
              <a:rPr lang="en-US" altLang="en-US" sz="1400"/>
              <a:t>├──</a:t>
            </a:r>
            <a:r>
              <a:rPr lang="en-US" altLang="zh-CN" sz="1400"/>
              <a:t> Read end_points.csv </a:t>
            </a:r>
            <a:r>
              <a:rPr lang="en-US" altLang="en-US" sz="1400"/>
              <a:t>→</a:t>
            </a:r>
            <a:r>
              <a:rPr lang="en-US" altLang="zh-CN" sz="1400"/>
              <a:t> Dictionary: {name: (x,y)}</a:t>
            </a:r>
            <a:endParaRPr lang="en-US" altLang="zh-CN" sz="1400"/>
          </a:p>
          <a:p>
            <a:r>
              <a:rPr lang="en-US" altLang="zh-CN" sz="1400"/>
              <a:t>    </a:t>
            </a:r>
            <a:r>
              <a:rPr lang="en-US" altLang="en-US" sz="1400"/>
              <a:t>└──</a:t>
            </a:r>
            <a:r>
              <a:rPr lang="en-US" altLang="zh-CN" sz="1400"/>
              <a:t> Read agv_task.csv </a:t>
            </a:r>
            <a:r>
              <a:rPr lang="en-US" altLang="en-US" sz="1400"/>
              <a:t>→</a:t>
            </a:r>
            <a:r>
              <a:rPr lang="en-US" altLang="zh-CN" sz="1400"/>
              <a:t> DataFrame with columns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sz="1400"/>
              <a:t>Step 2: Feature Calculation (Core)</a:t>
            </a:r>
            <a:endParaRPr lang="en-US" altLang="zh-CN" sz="1400"/>
          </a:p>
          <a:p>
            <a:r>
              <a:rPr lang="en-US" altLang="zh-CN" sz="1400"/>
              <a:t>    for each task in DataFrame:</a:t>
            </a:r>
            <a:endParaRPr lang="en-US" altLang="zh-CN" sz="1400"/>
          </a:p>
          <a:p>
            <a:r>
              <a:rPr lang="en-US" altLang="zh-CN" sz="1400"/>
              <a:t>        start_coord = start_dict[task.start_point]</a:t>
            </a:r>
            <a:endParaRPr lang="en-US" altLang="zh-CN" sz="1400"/>
          </a:p>
          <a:p>
            <a:r>
              <a:rPr lang="en-US" altLang="zh-CN" sz="1400"/>
              <a:t>        end_coord = end_dict[task.end_point]</a:t>
            </a:r>
            <a:endParaRPr lang="en-US" altLang="zh-CN" sz="1400"/>
          </a:p>
          <a:p>
            <a:r>
              <a:rPr lang="en-US" altLang="zh-CN" sz="1400"/>
              <a:t>        distance = |start_x - end_x| + |start_y - end_y|</a:t>
            </a:r>
            <a:endParaRPr lang="en-US" altLang="zh-CN" sz="1400"/>
          </a:p>
          <a:p>
            <a:r>
              <a:rPr lang="en-US" altLang="zh-CN" sz="1400"/>
              <a:t>        task['distance'] = distance</a:t>
            </a:r>
            <a:endParaRPr lang="en-US" altLang="zh-CN" sz="1400"/>
          </a:p>
          <a:p>
            <a:endParaRPr lang="en-US" altLang="zh-CN" sz="1400"/>
          </a:p>
          <a:p>
            <a:r>
              <a:rPr lang="en-US" altLang="zh-CN" sz="1400"/>
              <a:t>Step 3: Analysis &amp; Output</a:t>
            </a:r>
            <a:endParaRPr lang="en-US" altLang="zh-CN" sz="1400"/>
          </a:p>
          <a:p>
            <a:r>
              <a:rPr lang="en-US" altLang="zh-CN" sz="1400"/>
              <a:t>    </a:t>
            </a:r>
            <a:r>
              <a:rPr lang="en-US" altLang="en-US" sz="1400"/>
              <a:t>├──</a:t>
            </a:r>
            <a:r>
              <a:rPr lang="en-US" altLang="zh-CN" sz="1400"/>
              <a:t> Calculate statistics: mean, max, min</a:t>
            </a:r>
            <a:endParaRPr lang="en-US" altLang="zh-CN" sz="1400"/>
          </a:p>
          <a:p>
            <a:r>
              <a:rPr lang="en-US" altLang="zh-CN" sz="1400"/>
              <a:t>    </a:t>
            </a:r>
            <a:r>
              <a:rPr lang="en-US" altLang="en-US" sz="1400"/>
              <a:t>├──</a:t>
            </a:r>
            <a:r>
              <a:rPr lang="en-US" altLang="zh-CN" sz="1400"/>
              <a:t> Display formatted results</a:t>
            </a:r>
            <a:endParaRPr lang="en-US" altLang="zh-CN" sz="1400"/>
          </a:p>
          <a:p>
            <a:r>
              <a:rPr lang="en-US" altLang="zh-CN" sz="1400"/>
              <a:t>    </a:t>
            </a:r>
            <a:r>
              <a:rPr lang="en-US" altLang="en-US" sz="1400"/>
              <a:t>├──</a:t>
            </a:r>
            <a:r>
              <a:rPr lang="en-US" altLang="zh-CN" sz="1400"/>
              <a:t> Export enhanced dataset</a:t>
            </a:r>
            <a:endParaRPr lang="en-US" altLang="zh-CN" sz="1400"/>
          </a:p>
          <a:p>
            <a:r>
              <a:rPr lang="en-US" altLang="zh-CN" sz="1400"/>
              <a:t>    </a:t>
            </a:r>
            <a:r>
              <a:rPr lang="en-US" altLang="en-US" sz="1400"/>
              <a:t>└──</a:t>
            </a:r>
            <a:r>
              <a:rPr lang="en-US" altLang="zh-CN" sz="1400"/>
              <a:t> Prepare for visualization</a:t>
            </a:r>
            <a:endParaRPr lang="zh-CN" altLang="en-US" sz="14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867" y="30650"/>
            <a:ext cx="630327" cy="630327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821690" y="30480"/>
            <a:ext cx="50171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just">
              <a:buClrTx/>
              <a:buSzTx/>
              <a:buFontTx/>
            </a:pPr>
            <a:r>
              <a:rPr lang="en-US" altLang="zh-CN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3.3 Data Management</a:t>
            </a:r>
            <a:endParaRPr lang="en-US" altLang="zh-CN" b="1" dirty="0">
              <a:solidFill>
                <a:srgbClr val="266080"/>
              </a:solidFill>
              <a:latin typeface="Cambria" panose="020405030504060302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25145" y="1121410"/>
            <a:ext cx="10980420" cy="46907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/>
              <a:t>We organized our project with clear folder structure and version control:</a:t>
            </a:r>
            <a:endParaRPr lang="en-US" altLang="zh-CN" sz="2000"/>
          </a:p>
          <a:p>
            <a:endParaRPr lang="en-US" altLang="zh-CN" sz="2000"/>
          </a:p>
          <a:p>
            <a:r>
              <a:rPr lang="en-US" altLang="zh-CN" sz="2000"/>
              <a:t>final_version/</a:t>
            </a:r>
            <a:endParaRPr lang="en-US" altLang="zh-CN" sz="2000"/>
          </a:p>
          <a:p>
            <a:r>
              <a:rPr lang="en-US" altLang="en-US" sz="2000"/>
              <a:t>├──</a:t>
            </a:r>
            <a:r>
              <a:rPr lang="en-US" altLang="zh-CN" sz="2000"/>
              <a:t> agv_position.csv          # Warehouse layout and initial positions</a:t>
            </a:r>
            <a:endParaRPr lang="en-US" altLang="zh-CN" sz="2000"/>
          </a:p>
          <a:p>
            <a:r>
              <a:rPr lang="en-US" altLang="en-US" sz="2000"/>
              <a:t>├──</a:t>
            </a:r>
            <a:r>
              <a:rPr lang="en-US" altLang="zh-CN" sz="2000"/>
              <a:t> agv_task.csv              # Task definitions</a:t>
            </a:r>
            <a:endParaRPr lang="en-US" altLang="zh-CN" sz="2000"/>
          </a:p>
          <a:p>
            <a:r>
              <a:rPr lang="en-US" altLang="en-US" sz="2000"/>
              <a:t>├──</a:t>
            </a:r>
            <a:r>
              <a:rPr lang="en-US" altLang="zh-CN" sz="2000"/>
              <a:t> agv_trajectory.csv        # Generated AGV trajectories</a:t>
            </a:r>
            <a:endParaRPr lang="en-US" altLang="zh-CN" sz="2000"/>
          </a:p>
          <a:p>
            <a:r>
              <a:rPr lang="en-US" altLang="en-US" sz="2000"/>
              <a:t>├──</a:t>
            </a:r>
            <a:r>
              <a:rPr lang="en-US" altLang="zh-CN" sz="2000"/>
              <a:t> main right copy.py        # Main simulation algorithm</a:t>
            </a:r>
            <a:endParaRPr lang="en-US" altLang="zh-CN" sz="2000"/>
          </a:p>
          <a:p>
            <a:r>
              <a:rPr lang="en-US" altLang="en-US" sz="2000"/>
              <a:t>├──</a:t>
            </a:r>
            <a:r>
              <a:rPr lang="en-US" altLang="zh-CN" sz="2000"/>
              <a:t> display.py                # Visualization module</a:t>
            </a:r>
            <a:endParaRPr lang="en-US" altLang="zh-CN" sz="2000"/>
          </a:p>
          <a:p>
            <a:r>
              <a:rPr lang="en-US" altLang="en-US" sz="2000"/>
              <a:t>├──</a:t>
            </a:r>
            <a:r>
              <a:rPr lang="en-US" altLang="zh-CN" sz="2000"/>
              <a:t> project_report.ipynb      # This notebook</a:t>
            </a:r>
            <a:endParaRPr lang="en-US" altLang="zh-CN" sz="2000"/>
          </a:p>
          <a:p>
            <a:r>
              <a:rPr lang="en-US" altLang="en-US" sz="2000"/>
              <a:t>└──</a:t>
            </a:r>
            <a:r>
              <a:rPr lang="en-US" altLang="zh-CN" sz="2000"/>
              <a:t> README.md                 # Project documentation</a:t>
            </a:r>
            <a:endParaRPr lang="en-US" altLang="zh-CN" sz="2000"/>
          </a:p>
          <a:p>
            <a:r>
              <a:rPr lang="en-US" altLang="zh-CN" sz="2000"/>
              <a:t>```</a:t>
            </a:r>
            <a:endParaRPr lang="en-US" altLang="zh-CN" sz="2000"/>
          </a:p>
          <a:p>
            <a:endParaRPr lang="en-US" altLang="zh-CN" sz="2000"/>
          </a:p>
          <a:p>
            <a:r>
              <a:rPr lang="en-US" altLang="zh-CN" sz="2000"/>
              <a:t>All code is version-controlled using Git, ensuring reproducibility and collaboration.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867" y="30650"/>
            <a:ext cx="630327" cy="630327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821690" y="30480"/>
            <a:ext cx="90125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pPr algn="just">
              <a:buClrTx/>
              <a:buSzTx/>
              <a:buFontTx/>
            </a:pPr>
            <a:r>
              <a:rPr lang="en-US" altLang="zh-CN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3.4.1 Path planning and task scheduling module</a:t>
            </a:r>
            <a:endParaRPr lang="en-US" altLang="zh-CN" b="1" dirty="0">
              <a:solidFill>
                <a:srgbClr val="266080"/>
              </a:solidFill>
              <a:latin typeface="Cambria" panose="020405030504060302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4945" y="770890"/>
            <a:ext cx="10786110" cy="54463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altLang="zh-CN" sz="12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1. State management architecture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AGV Status Dictionary : Unified management of location, task, path, priority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Task state transition : Convert the original CSV Convert data into executable task objects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Real time status tracking: Through` agv_states` Real time status of dictionary maintenance system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2. Coordinate System and Path Calculation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Intelligent Coordinate Conversion: Dynamically calculate pick-up coordinates based on the starting point position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Unloading point extension mechanism : Generate 4 adjacent selectable positions for each endpoint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Manhattan Distance Calculation: Path Planning Algorithm for Grid Warehouse Adaptation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3. Conflict detection and task validation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Trajectory collision detection : Check AGV Is there any positional overlap between them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Path Intersection Recognition : Detection AGV Is there a conflict of wearing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Task sequence verification : Ensure AGV Execute the task sequence in the correct order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4. Data persistence and output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Track file record : Record all by time step AGV status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CSV Structured storage : including location, loading status, and tasks ID Waiting for complete information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Checkpoint Verification: Passed` check_trajectory_conflicts()` Ensure system reliability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676075" y="84203"/>
            <a:ext cx="5422631" cy="521970"/>
            <a:chOff x="101669" y="198201"/>
            <a:chExt cx="6280359" cy="521970"/>
          </a:xfrm>
        </p:grpSpPr>
        <p:sp>
          <p:nvSpPr>
            <p:cNvPr id="14" name="文本框 13"/>
            <p:cNvSpPr txBox="1"/>
            <p:nvPr/>
          </p:nvSpPr>
          <p:spPr>
            <a:xfrm>
              <a:off x="101669" y="198201"/>
              <a:ext cx="1135522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just">
                <a:buClrTx/>
                <a:buSzTx/>
                <a:buFontTx/>
              </a:pPr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3.4.1</a:t>
              </a:r>
              <a:endParaRPr lang="en-US" altLang="zh-CN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461168" y="198201"/>
              <a:ext cx="49208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l"/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Simulation class</a:t>
              </a:r>
              <a:endParaRPr lang="en-US" altLang="zh-CN" dirty="0">
                <a:solidFill>
                  <a:srgbClr val="266080"/>
                </a:solidFill>
                <a:latin typeface="036-上首金牛体" panose="02010609000101010101" pitchFamily="49" charset="-122"/>
                <a:ea typeface="036-上首金牛体" panose="02010609000101010101" pitchFamily="49" charset="-122"/>
              </a:endParaRPr>
            </a:p>
          </p:txBody>
        </p:sp>
      </p:grpSp>
      <p:pic>
        <p:nvPicPr>
          <p:cNvPr id="22" name="图片 2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867" y="30650"/>
            <a:ext cx="630327" cy="630327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18745" y="721995"/>
            <a:ext cx="11454765" cy="600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1. Simulation engine architecture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State Management System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: Unified Management AGV Status, task queue, environment status, and timeline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Hierarchical initialization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: Initialize sequentially AGV Objects, surface tasks, task queues, ensure system consistency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Time advancement mechanism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: Through </a:t>
            </a:r>
            <a:r>
              <a:rPr lang="en-US" altLang="zh-CN" sz="1600">
                <a:highlight>
                  <a:srgbClr val="C0C0C0"/>
                </a:highlight>
                <a:latin typeface="微软雅黑" panose="020B0503020204020204" charset="-122"/>
                <a:ea typeface="微软雅黑" panose="020B0503020204020204" charset="-122"/>
              </a:rPr>
              <a:t>time_forward()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 Method for implementing discrete-time step simulation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2. Intelligent task allocation and replanning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Dynamic task allocation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: based on the cost matrix (distance+urgency weight) AGV Allocate optimal tasks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Conflict detection and replanning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: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Real time detection of task mismatches (sequence errors)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Intelligent task exchange algorithm (replan() method)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Failed task recording mechanism (tried_tasks collection)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Path validity verification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: Pre verify the feasibility of the path before assigning tasks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3. Improved type A* Path planning algorithm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Two stage planning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: segmented path planning from starting point </a:t>
            </a:r>
            <a:r>
              <a:rPr lang="en-US" altLang="en-US" sz="1600"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 pickup point </a:t>
            </a:r>
            <a:r>
              <a:rPr lang="en-US" altLang="en-US" sz="1600">
                <a:latin typeface="微软雅黑" panose="020B0503020204020204" charset="-122"/>
                <a:ea typeface="微软雅黑" panose="020B0503020204020204" charset="-122"/>
              </a:rPr>
              <a:t>→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 unloading point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Dynamic obstacle handling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: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Static obstacle (fixed position)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Time related obstacles (predict position 1 second, 2 seconds later)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Temporary obstacles (specific locations for specific tasks)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Steering and waiting mechanism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: supports in place waiting and direction adjustment to avoid deadlocks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</a:rPr>
              <a:t>Multiple unloading point selection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: Generate multiple optional positions for each task endpoint to improve path flexibility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676074" y="84203"/>
            <a:ext cx="5430887" cy="521970"/>
            <a:chOff x="101668" y="198201"/>
            <a:chExt cx="6289921" cy="521970"/>
          </a:xfrm>
        </p:grpSpPr>
        <p:sp>
          <p:nvSpPr>
            <p:cNvPr id="14" name="文本框 13"/>
            <p:cNvSpPr txBox="1"/>
            <p:nvPr/>
          </p:nvSpPr>
          <p:spPr>
            <a:xfrm>
              <a:off x="101668" y="198201"/>
              <a:ext cx="1135522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dist"/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3.4</a:t>
              </a:r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.1</a:t>
              </a:r>
              <a:endParaRPr lang="zh-CN" altLang="en-US" dirty="0">
                <a:solidFill>
                  <a:srgbClr val="266080"/>
                </a:solidFill>
                <a:latin typeface="036-上首金牛体" panose="02010609000101010101" pitchFamily="49" charset="-122"/>
                <a:ea typeface="036-上首金牛体" panose="02010609000101010101" pitchFamily="49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470729" y="198201"/>
              <a:ext cx="49208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l"/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Environment class</a:t>
              </a:r>
              <a:endParaRPr lang="en-US" altLang="zh-CN" dirty="0">
                <a:solidFill>
                  <a:srgbClr val="266080"/>
                </a:solidFill>
                <a:latin typeface="036-上首金牛体" panose="02010609000101010101" pitchFamily="49" charset="-122"/>
                <a:ea typeface="036-上首金牛体" panose="02010609000101010101" pitchFamily="49" charset="-122"/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867" y="30650"/>
            <a:ext cx="630327" cy="630327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69545" y="965835"/>
            <a:ext cx="11852910" cy="47694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Multi level obstacle modeling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Static obstacles: fixed starting and ending positions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Time prediction obstacle: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highlight>
                  <a:srgbClr val="C0C0C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forward_one_second_obstacles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Predict position in 1 second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highlight>
                  <a:srgbClr val="C0C0C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forward_two_seconds_obstacles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Predict position in 2 seconds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Temporary obstacle: Specific AGV Temporary occupation position at a specific time point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Conflict detection mechanism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Path Intersection Detection: </a:t>
            </a:r>
            <a:r>
              <a:rPr lang="en-US" altLang="zh-CN" sz="1600">
                <a:highlight>
                  <a:srgbClr val="C0C0C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judge_swapping()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judgment AGV Has there been any cross dressing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Path validity verification: </a:t>
            </a:r>
            <a:r>
              <a:rPr lang="en-US" altLang="zh-CN" sz="1600">
                <a:highlight>
                  <a:srgbClr val="C0C0C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is_valid_path()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Check for conflicts between new paths and existing trajectories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Endpoint verification: The path must reach a valid unloading point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Collision detection: avoid overlapping positions at the same time point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Wear detection: avoid AGV swap positions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Dynamic environment updates and management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Mobile obstacle tracking: Real time recording of all obstacles AGV The movement trajectory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Unloading point extension: Generate 4 adjacent selectable positions for each endpoint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Status query interface: provides a unified method for obtaining obstacle information and supports path planning decisions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676075" y="84203"/>
            <a:ext cx="5430886" cy="521970"/>
            <a:chOff x="101669" y="198201"/>
            <a:chExt cx="6289920" cy="521970"/>
          </a:xfrm>
        </p:grpSpPr>
        <p:sp>
          <p:nvSpPr>
            <p:cNvPr id="14" name="文本框 13"/>
            <p:cNvSpPr txBox="1"/>
            <p:nvPr/>
          </p:nvSpPr>
          <p:spPr>
            <a:xfrm>
              <a:off x="101669" y="198201"/>
              <a:ext cx="1135522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just">
                <a:buClrTx/>
                <a:buSzTx/>
                <a:buFontTx/>
              </a:pPr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3.4.1</a:t>
              </a:r>
              <a:endParaRPr lang="en-US" altLang="zh-CN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470729" y="198201"/>
              <a:ext cx="49208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l"/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AGV class</a:t>
              </a:r>
              <a:endParaRPr lang="en-US" altLang="zh-CN" dirty="0">
                <a:solidFill>
                  <a:srgbClr val="266080"/>
                </a:solidFill>
                <a:latin typeface="036-上首金牛体" panose="02010609000101010101" pitchFamily="49" charset="-122"/>
                <a:ea typeface="036-上首金牛体" panose="02010609000101010101" pitchFamily="49" charset="-122"/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867" y="30650"/>
            <a:ext cx="630327" cy="630327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271145" y="788670"/>
            <a:ext cx="10972165" cy="279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State management encapsulation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Core attributes: Name, Location Status, Task ID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Priority marking, path trajectory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Complete lifecycle: Record the entire path and steps from task assignment to completion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Priority mechanism: </a:t>
            </a:r>
            <a:r>
              <a:rPr lang="en-US" altLang="zh-CN" sz="1600">
                <a:highlight>
                  <a:srgbClr val="C0C0C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priority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Marking urgent tasks that affect scheduling priority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AutoNum type="arabicPeriod"/>
            </a:pP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  Data tracing and debugging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Path record: </a:t>
            </a:r>
            <a:r>
              <a:rPr lang="en-US" altLang="zh-CN" sz="1600">
                <a:highlight>
                  <a:srgbClr val="C0C0C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path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array stores the complete movement trajectory (coordinates+time+direction)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storage: </a:t>
            </a:r>
            <a:r>
              <a:rPr lang="en-US" altLang="zh-CN" sz="1600">
                <a:highlight>
                  <a:srgbClr val="C0C0C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steps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Array records the detailed status of each time step (loading, destination, etc.)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Debugging friendly:</a:t>
            </a:r>
            <a:r>
              <a:rPr lang="en-US" altLang="zh-CN" sz="1600">
                <a:highlight>
                  <a:srgbClr val="C0C0C0"/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__ repr__() 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Method provides structured object information output for easy problem troubleshooting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676075" y="84203"/>
            <a:ext cx="5430886" cy="521970"/>
            <a:chOff x="101669" y="198201"/>
            <a:chExt cx="6289920" cy="521970"/>
          </a:xfrm>
        </p:grpSpPr>
        <p:sp>
          <p:nvSpPr>
            <p:cNvPr id="14" name="文本框 13"/>
            <p:cNvSpPr txBox="1"/>
            <p:nvPr/>
          </p:nvSpPr>
          <p:spPr>
            <a:xfrm>
              <a:off x="101669" y="198201"/>
              <a:ext cx="1135522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just">
                <a:buClrTx/>
                <a:buSzTx/>
                <a:buFontTx/>
              </a:pPr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3.4.2</a:t>
              </a:r>
              <a:endParaRPr lang="en-US" altLang="zh-CN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470729" y="198201"/>
              <a:ext cx="49208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l"/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Visualization module</a:t>
              </a:r>
              <a:endParaRPr lang="en-US" altLang="zh-CN" dirty="0">
                <a:solidFill>
                  <a:srgbClr val="266080"/>
                </a:solidFill>
                <a:latin typeface="036-上首金牛体" panose="02010609000101010101" pitchFamily="49" charset="-122"/>
                <a:ea typeface="036-上首金牛体" panose="02010609000101010101" pitchFamily="49" charset="-122"/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867" y="30650"/>
            <a:ext cx="630327" cy="630327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8745" y="745490"/>
            <a:ext cx="8389620" cy="4276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/>
              <a:t>Step 1: Import Required Libraries</a:t>
            </a:r>
            <a:endParaRPr lang="en-US" altLang="zh-CN" sz="1600"/>
          </a:p>
          <a:p>
            <a:r>
              <a:rPr lang="en-US" altLang="zh-CN" sz="1600"/>
              <a:t>    </a:t>
            </a:r>
            <a:r>
              <a:rPr lang="en-US" altLang="en-US" sz="1600"/>
              <a:t>├──</a:t>
            </a:r>
            <a:r>
              <a:rPr lang="en-US" altLang="zh-CN" sz="1600"/>
              <a:t> pygame (graphics rendering)</a:t>
            </a:r>
            <a:endParaRPr lang="en-US" altLang="zh-CN" sz="1600"/>
          </a:p>
          <a:p>
            <a:r>
              <a:rPr lang="en-US" altLang="zh-CN" sz="1600"/>
              <a:t>    </a:t>
            </a:r>
            <a:r>
              <a:rPr lang="en-US" altLang="en-US" sz="1600"/>
              <a:t>├──</a:t>
            </a:r>
            <a:r>
              <a:rPr lang="en-US" altLang="zh-CN" sz="1600"/>
              <a:t> csv, numpy (data processing)</a:t>
            </a:r>
            <a:endParaRPr lang="en-US" altLang="zh-CN" sz="1600"/>
          </a:p>
          <a:p>
            <a:r>
              <a:rPr lang="en-US" altLang="zh-CN" sz="1600"/>
              <a:t>    </a:t>
            </a:r>
            <a:r>
              <a:rPr lang="en-US" altLang="en-US" sz="1600"/>
              <a:t>├──</a:t>
            </a:r>
            <a:r>
              <a:rPr lang="en-US" altLang="zh-CN" sz="1600"/>
              <a:t> math, time (calculations &amp; timing)</a:t>
            </a:r>
            <a:endParaRPr lang="en-US" altLang="zh-CN" sz="1600"/>
          </a:p>
          <a:p>
            <a:r>
              <a:rPr lang="en-US" altLang="zh-CN" sz="1600"/>
              <a:t>    </a:t>
            </a:r>
            <a:r>
              <a:rPr lang="en-US" altLang="en-US" sz="1600"/>
              <a:t>└──</a:t>
            </a:r>
            <a:r>
              <a:rPr lang="en-US" altLang="zh-CN" sz="1600"/>
              <a:t> collections, sys (system utilities)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/>
              <a:t>Step 2: Initialize Graphics Engine</a:t>
            </a:r>
            <a:endParaRPr lang="en-US" altLang="zh-CN" sz="1600"/>
          </a:p>
          <a:p>
            <a:r>
              <a:rPr lang="en-US" altLang="zh-CN" sz="1600"/>
              <a:t>    </a:t>
            </a:r>
            <a:r>
              <a:rPr lang="en-US" altLang="en-US" sz="1600"/>
              <a:t>├──</a:t>
            </a:r>
            <a:r>
              <a:rPr lang="en-US" altLang="zh-CN" sz="1600"/>
              <a:t> Initialize pygame</a:t>
            </a:r>
            <a:endParaRPr lang="en-US" altLang="zh-CN" sz="1600"/>
          </a:p>
          <a:p>
            <a:r>
              <a:rPr lang="en-US" altLang="zh-CN" sz="1600"/>
              <a:t>    </a:t>
            </a:r>
            <a:r>
              <a:rPr lang="en-US" altLang="en-US" sz="1600"/>
              <a:t>├──</a:t>
            </a:r>
            <a:r>
              <a:rPr lang="en-US" altLang="zh-CN" sz="1600"/>
              <a:t> Check initialization success</a:t>
            </a:r>
            <a:endParaRPr lang="en-US" altLang="zh-CN" sz="1600"/>
          </a:p>
          <a:p>
            <a:r>
              <a:rPr lang="en-US" altLang="zh-CN" sz="1600"/>
              <a:t>    </a:t>
            </a:r>
            <a:r>
              <a:rPr lang="en-US" altLang="en-US" sz="1600"/>
              <a:t>└──</a:t>
            </a:r>
            <a:r>
              <a:rPr lang="en-US" altLang="zh-CN" sz="1600"/>
              <a:t> Prepare for visualization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/>
              <a:t>Step 3: Configure Display Parameters</a:t>
            </a:r>
            <a:endParaRPr lang="en-US" altLang="zh-CN" sz="1600"/>
          </a:p>
          <a:p>
            <a:r>
              <a:rPr lang="en-US" altLang="zh-CN" sz="1600"/>
              <a:t>    </a:t>
            </a:r>
            <a:r>
              <a:rPr lang="en-US" altLang="en-US" sz="1600"/>
              <a:t>├──</a:t>
            </a:r>
            <a:r>
              <a:rPr lang="en-US" altLang="zh-CN" sz="1600"/>
              <a:t> Grid size: 40 pixels</a:t>
            </a:r>
            <a:endParaRPr lang="en-US" altLang="zh-CN" sz="1600"/>
          </a:p>
          <a:p>
            <a:r>
              <a:rPr lang="en-US" altLang="zh-CN" sz="1600"/>
              <a:t>    </a:t>
            </a:r>
            <a:r>
              <a:rPr lang="en-US" altLang="en-US" sz="1600"/>
              <a:t>├──</a:t>
            </a:r>
            <a:r>
              <a:rPr lang="en-US" altLang="zh-CN" sz="1600"/>
              <a:t> Window size: 800</a:t>
            </a:r>
            <a:r>
              <a:rPr lang="en-US" altLang="en-US" sz="1600"/>
              <a:t>×</a:t>
            </a:r>
            <a:r>
              <a:rPr lang="en-US" altLang="zh-CN" sz="1600"/>
              <a:t>800 pixels (20</a:t>
            </a:r>
            <a:r>
              <a:rPr lang="en-US" altLang="en-US" sz="1600"/>
              <a:t>×</a:t>
            </a:r>
            <a:r>
              <a:rPr lang="en-US" altLang="zh-CN" sz="1600"/>
              <a:t>20 grid)</a:t>
            </a:r>
            <a:endParaRPr lang="en-US" altLang="zh-CN" sz="1600"/>
          </a:p>
          <a:p>
            <a:r>
              <a:rPr lang="en-US" altLang="zh-CN" sz="1600"/>
              <a:t>    </a:t>
            </a:r>
            <a:r>
              <a:rPr lang="en-US" altLang="en-US" sz="1600"/>
              <a:t>└──</a:t>
            </a:r>
            <a:r>
              <a:rPr lang="en-US" altLang="zh-CN" sz="1600"/>
              <a:t> Frame rate: 5 FPS (optimized for path planning)</a:t>
            </a:r>
            <a:endParaRPr lang="en-US" altLang="zh-CN" sz="1600"/>
          </a:p>
          <a:p>
            <a:endParaRPr lang="en-US" altLang="zh-CN" sz="1600"/>
          </a:p>
          <a:p>
            <a:endParaRPr lang="zh-CN" altLang="en-US" sz="1600"/>
          </a:p>
        </p:txBody>
      </p:sp>
      <p:sp>
        <p:nvSpPr>
          <p:cNvPr id="6" name="文本框 5"/>
          <p:cNvSpPr txBox="1"/>
          <p:nvPr/>
        </p:nvSpPr>
        <p:spPr>
          <a:xfrm>
            <a:off x="6282690" y="745490"/>
            <a:ext cx="6096000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sym typeface="+mn-ea"/>
              </a:rPr>
              <a:t>Step 4: Define Color System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    </a:t>
            </a:r>
            <a:r>
              <a:rPr lang="en-US" altLang="en-US" sz="1600">
                <a:sym typeface="+mn-ea"/>
              </a:rPr>
              <a:t>├──</a:t>
            </a:r>
            <a:r>
              <a:rPr lang="en-US" altLang="zh-CN" sz="1600">
                <a:sym typeface="+mn-ea"/>
              </a:rPr>
              <a:t> Basic colors: White, Black, Red, Gray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    </a:t>
            </a:r>
            <a:r>
              <a:rPr lang="en-US" altLang="en-US" sz="1600">
                <a:sym typeface="+mn-ea"/>
              </a:rPr>
              <a:t>├──</a:t>
            </a:r>
            <a:r>
              <a:rPr lang="en-US" altLang="zh-CN" sz="1600">
                <a:sym typeface="+mn-ea"/>
              </a:rPr>
              <a:t> Functional colors: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    </a:t>
            </a:r>
            <a:r>
              <a:rPr lang="en-US" altLang="en-US" sz="1600">
                <a:sym typeface="+mn-ea"/>
              </a:rPr>
              <a:t>│</a:t>
            </a:r>
            <a:r>
              <a:rPr lang="en-US" altLang="zh-CN" sz="1600">
                <a:sym typeface="+mn-ea"/>
              </a:rPr>
              <a:t>   </a:t>
            </a:r>
            <a:r>
              <a:rPr lang="en-US" altLang="en-US" sz="1600">
                <a:sym typeface="+mn-ea"/>
              </a:rPr>
              <a:t>├──</a:t>
            </a:r>
            <a:r>
              <a:rPr lang="en-US" altLang="zh-CN" sz="1600">
                <a:sym typeface="+mn-ea"/>
              </a:rPr>
              <a:t> Blue (100,149,237): Pickup points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    </a:t>
            </a:r>
            <a:r>
              <a:rPr lang="en-US" altLang="en-US" sz="1600">
                <a:sym typeface="+mn-ea"/>
              </a:rPr>
              <a:t>│</a:t>
            </a:r>
            <a:r>
              <a:rPr lang="en-US" altLang="zh-CN" sz="1600">
                <a:sym typeface="+mn-ea"/>
              </a:rPr>
              <a:t>   </a:t>
            </a:r>
            <a:r>
              <a:rPr lang="en-US" altLang="en-US" sz="1600">
                <a:sym typeface="+mn-ea"/>
              </a:rPr>
              <a:t>├──</a:t>
            </a:r>
            <a:r>
              <a:rPr lang="en-US" altLang="zh-CN" sz="1600">
                <a:sym typeface="+mn-ea"/>
              </a:rPr>
              <a:t> Green (50,205,50): Delivery points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    </a:t>
            </a:r>
            <a:r>
              <a:rPr lang="en-US" altLang="en-US" sz="1600">
                <a:sym typeface="+mn-ea"/>
              </a:rPr>
              <a:t>│</a:t>
            </a:r>
            <a:r>
              <a:rPr lang="en-US" altLang="zh-CN" sz="1600">
                <a:sym typeface="+mn-ea"/>
              </a:rPr>
              <a:t>   </a:t>
            </a:r>
            <a:r>
              <a:rPr lang="en-US" altLang="en-US" sz="1600">
                <a:sym typeface="+mn-ea"/>
              </a:rPr>
              <a:t>└──</a:t>
            </a:r>
            <a:r>
              <a:rPr lang="en-US" altLang="zh-CN" sz="1600">
                <a:sym typeface="+mn-ea"/>
              </a:rPr>
              <a:t> Pink (255,192,203): Normal tasks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    </a:t>
            </a:r>
            <a:r>
              <a:rPr lang="en-US" altLang="en-US" sz="1600">
                <a:sym typeface="+mn-ea"/>
              </a:rPr>
              <a:t>└──</a:t>
            </a:r>
            <a:r>
              <a:rPr lang="en-US" altLang="zh-CN" sz="1600">
                <a:sym typeface="+mn-ea"/>
              </a:rPr>
              <a:t> AGV colors: 16 distinct pastel shades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>
                <a:sym typeface="+mn-ea"/>
              </a:rPr>
              <a:t>Step 5: Create City Mapping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    </a:t>
            </a:r>
            <a:r>
              <a:rPr lang="en-US" altLang="en-US" sz="1600">
                <a:sym typeface="+mn-ea"/>
              </a:rPr>
              <a:t>├──</a:t>
            </a:r>
            <a:r>
              <a:rPr lang="en-US" altLang="zh-CN" sz="1600">
                <a:sym typeface="+mn-ea"/>
              </a:rPr>
              <a:t> Map 16 city names to numbers (1-16)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    </a:t>
            </a:r>
            <a:r>
              <a:rPr lang="en-US" altLang="en-US" sz="1600">
                <a:sym typeface="+mn-ea"/>
              </a:rPr>
              <a:t>├──</a:t>
            </a:r>
            <a:r>
              <a:rPr lang="en-US" altLang="zh-CN" sz="1600">
                <a:sym typeface="+mn-ea"/>
              </a:rPr>
              <a:t> Example: Hangzhou</a:t>
            </a:r>
            <a:r>
              <a:rPr lang="en-US" altLang="en-US" sz="1600">
                <a:sym typeface="+mn-ea"/>
              </a:rPr>
              <a:t>→</a:t>
            </a:r>
            <a:r>
              <a:rPr lang="en-US" altLang="zh-CN" sz="1600">
                <a:sym typeface="+mn-ea"/>
              </a:rPr>
              <a:t>1, Guangzhou</a:t>
            </a:r>
            <a:r>
              <a:rPr lang="en-US" altLang="en-US" sz="1600">
                <a:sym typeface="+mn-ea"/>
              </a:rPr>
              <a:t>→</a:t>
            </a:r>
            <a:r>
              <a:rPr lang="en-US" altLang="zh-CN" sz="1600">
                <a:sym typeface="+mn-ea"/>
              </a:rPr>
              <a:t>2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    </a:t>
            </a:r>
            <a:r>
              <a:rPr lang="en-US" altLang="en-US" sz="1600">
                <a:sym typeface="+mn-ea"/>
              </a:rPr>
              <a:t>└──</a:t>
            </a:r>
            <a:r>
              <a:rPr lang="en-US" altLang="zh-CN" sz="1600">
                <a:sym typeface="+mn-ea"/>
              </a:rPr>
              <a:t> Used for delivery point labeling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>
                <a:sym typeface="+mn-ea"/>
              </a:rPr>
              <a:t>Step 6: Check Optional Libraries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    </a:t>
            </a:r>
            <a:r>
              <a:rPr lang="en-US" altLang="en-US" sz="1600">
                <a:sym typeface="+mn-ea"/>
              </a:rPr>
              <a:t>├──</a:t>
            </a:r>
            <a:r>
              <a:rPr lang="en-US" altLang="zh-CN" sz="1600">
                <a:sym typeface="+mn-ea"/>
              </a:rPr>
              <a:t> Verify imageio availability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    </a:t>
            </a:r>
            <a:r>
              <a:rPr lang="en-US" altLang="en-US" sz="1600">
                <a:sym typeface="+mn-ea"/>
              </a:rPr>
              <a:t>├──</a:t>
            </a:r>
            <a:r>
              <a:rPr lang="en-US" altLang="zh-CN" sz="1600">
                <a:sym typeface="+mn-ea"/>
              </a:rPr>
              <a:t> Prepare for animation recording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    </a:t>
            </a:r>
            <a:r>
              <a:rPr lang="en-US" altLang="en-US" sz="1600">
                <a:sym typeface="+mn-ea"/>
              </a:rPr>
              <a:t>└──</a:t>
            </a:r>
            <a:r>
              <a:rPr lang="en-US" altLang="zh-CN" sz="1600">
                <a:sym typeface="+mn-ea"/>
              </a:rPr>
              <a:t> Optional functionality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>
                <a:sym typeface="+mn-ea"/>
              </a:rPr>
              <a:t>Step 7: Module Ready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    </a:t>
            </a:r>
            <a:r>
              <a:rPr lang="en-US" altLang="en-US" sz="1600">
                <a:sym typeface="+mn-ea"/>
              </a:rPr>
              <a:t>└──</a:t>
            </a:r>
            <a:r>
              <a:rPr lang="en-US" altLang="zh-CN" sz="1600">
                <a:sym typeface="+mn-ea"/>
              </a:rPr>
              <a:t> Visualization system prepared for execution</a:t>
            </a:r>
            <a:endParaRPr lang="en-US" altLang="zh-CN" sz="1600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676074" y="84203"/>
            <a:ext cx="5430887" cy="521970"/>
            <a:chOff x="101668" y="198201"/>
            <a:chExt cx="6289921" cy="521970"/>
          </a:xfrm>
        </p:grpSpPr>
        <p:sp>
          <p:nvSpPr>
            <p:cNvPr id="14" name="文本框 13"/>
            <p:cNvSpPr txBox="1"/>
            <p:nvPr/>
          </p:nvSpPr>
          <p:spPr>
            <a:xfrm>
              <a:off x="101668" y="198201"/>
              <a:ext cx="1135522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just">
                <a:buClrTx/>
                <a:buSzTx/>
                <a:buFontTx/>
              </a:pPr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3.4.2</a:t>
              </a:r>
              <a:endParaRPr lang="en-US" altLang="zh-CN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1470729" y="198201"/>
              <a:ext cx="492086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l"/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Visualization module</a:t>
              </a:r>
              <a:endParaRPr lang="en-US" altLang="zh-CN" dirty="0">
                <a:solidFill>
                  <a:srgbClr val="266080"/>
                </a:solidFill>
                <a:latin typeface="036-上首金牛体" panose="02010609000101010101" pitchFamily="49" charset="-122"/>
                <a:ea typeface="036-上首金牛体" panose="02010609000101010101" pitchFamily="49" charset="-122"/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867" y="30650"/>
            <a:ext cx="630327" cy="63032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28600" y="842645"/>
            <a:ext cx="10151745" cy="5262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Multi source data management and status tracking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Three level data loading: location CSV( Static layout), tasks CSV( Assignment definition, trajectory CSV( Dynamic Path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Intelligent state tracking system: real-time recording of task completion status AGV Current task, remaining task count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 sequence management: Maintain a task queue sorted by number for each starting point, supporting natural sorting (such as Tiger-1 in Tiger-10 Previously)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Real time rendering and dynamic display engine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Grid coordinate system: 20 </a:t>
            </a:r>
            <a:r>
              <a:rPr lang="en-US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 grid (40 pixels/grid), coordinate conversion adapted to display coordinate system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Layered drawing strategy: Background </a:t>
            </a:r>
            <a:r>
              <a:rPr lang="en-US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Static objects (starting/ending points) </a:t>
            </a:r>
            <a:r>
              <a:rPr lang="en-US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AGV </a:t>
            </a:r>
            <a:r>
              <a:rPr lang="en-US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Goods </a:t>
            </a:r>
            <a:r>
              <a:rPr lang="en-US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Directional arrows </a:t>
            </a:r>
            <a:r>
              <a:rPr lang="en-US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Information overlay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State change detection: By comparing the time steps before and after, accurately identify task loading/unloading events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Configurable output and performance optimization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Flexible speed control: supports playback speed adjustment (FPS </a:t>
            </a:r>
            <a:r>
              <a:rPr lang="en-US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FPS) speed Factor)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Video recording function: optional generation mp4 File, use imageio Library ensures format compatibility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Error handling mechanism: elegant resource cleaning to ensure the integrity of video files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822761" y="84203"/>
            <a:ext cx="10657522" cy="521970"/>
            <a:chOff x="271557" y="198201"/>
            <a:chExt cx="12343282" cy="521970"/>
          </a:xfrm>
        </p:grpSpPr>
        <p:sp>
          <p:nvSpPr>
            <p:cNvPr id="19" name="文本框 18"/>
            <p:cNvSpPr txBox="1"/>
            <p:nvPr/>
          </p:nvSpPr>
          <p:spPr>
            <a:xfrm>
              <a:off x="271557" y="198201"/>
              <a:ext cx="795748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just">
                <a:buClrTx/>
                <a:buSzTx/>
                <a:buFontTx/>
              </a:pPr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4.1</a:t>
              </a:r>
              <a:endParaRPr lang="en-US" altLang="zh-CN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029429" y="198201"/>
              <a:ext cx="1158541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just">
                <a:buClrTx/>
                <a:buSzTx/>
                <a:buFontTx/>
              </a:pPr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Algorithm </a:t>
              </a:r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Core: A* Path Planning and Task Allocation</a:t>
              </a:r>
              <a:endParaRPr lang="en-US" altLang="zh-CN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83" name="图片 8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867" y="30650"/>
            <a:ext cx="630327" cy="630327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706346" y="1361025"/>
            <a:ext cx="5268596" cy="3873285"/>
            <a:chOff x="1183183" y="836767"/>
            <a:chExt cx="9822898" cy="2580272"/>
          </a:xfrm>
        </p:grpSpPr>
        <p:sp>
          <p:nvSpPr>
            <p:cNvPr id="2" name="文本框 1"/>
            <p:cNvSpPr txBox="1"/>
            <p:nvPr/>
          </p:nvSpPr>
          <p:spPr>
            <a:xfrm>
              <a:off x="1183183" y="836767"/>
              <a:ext cx="7732112" cy="265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Cambria" panose="02040503050406030204" pitchFamily="18" charset="0"/>
                </a:rPr>
                <a:t>A* Path Planning Algorithm</a:t>
              </a:r>
              <a:endParaRPr lang="en-US" altLang="zh-CN" sz="2000" b="1" dirty="0">
                <a:latin typeface="Cambria" panose="02040503050406030204" pitchFamily="18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183183" y="1142043"/>
              <a:ext cx="9822898" cy="2274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Goal: Used for finding optimal paths from AGV positions to pickup points and from pickup points to delivery points.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Heuristic Function: Employs the Manhattan distance.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Cost Function: Includes Movement cost (1 unit) plus turn cost (1 additional time step).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Constraint Handling: Incorporates constraints for Static obstacles, dynamic obstacles (other AGVs), and swap prevention (to avoid two AGVs crossing paths).</a:t>
              </a:r>
              <a:endParaRPr lang="en-US" altLang="zh-CN" sz="1600" dirty="0">
                <a:latin typeface="Cambria" panose="02040503050406030204" pitchFamily="18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6484846" y="1361025"/>
            <a:ext cx="5268596" cy="2765210"/>
            <a:chOff x="1183183" y="836767"/>
            <a:chExt cx="9822898" cy="1842104"/>
          </a:xfrm>
        </p:grpSpPr>
        <p:sp>
          <p:nvSpPr>
            <p:cNvPr id="5" name="文本框 4"/>
            <p:cNvSpPr txBox="1"/>
            <p:nvPr/>
          </p:nvSpPr>
          <p:spPr>
            <a:xfrm>
              <a:off x="1183183" y="836767"/>
              <a:ext cx="7732112" cy="265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Cambria" panose="02040503050406030204" pitchFamily="18" charset="0"/>
                </a:rPr>
                <a:t>Task Allocation Algorithm</a:t>
              </a:r>
              <a:endParaRPr lang="en-US" altLang="zh-CN" sz="2000" b="1" dirty="0">
                <a:latin typeface="Cambria" panose="02040503050406030204" pitchFamily="18" charset="0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183183" y="1142043"/>
              <a:ext cx="9822898" cy="1536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Strategy: Tasks are allocated using a cost matrix approach.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Cost Calculation: Based on the Manhattan distance from the AGV to the pickup point.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Priority Weighting: Urgent tasks receive a 0.7</a:t>
              </a:r>
              <a:r>
                <a:rPr lang="en-US" altLang="en-US" sz="1600" dirty="0">
                  <a:latin typeface="Cambria" panose="02040503050406030204" pitchFamily="18" charset="0"/>
                </a:rPr>
                <a:t>×</a:t>
              </a:r>
              <a:r>
                <a:rPr lang="en-US" altLang="zh-CN" sz="1600" dirty="0">
                  <a:latin typeface="Cambria" panose="02040503050406030204" pitchFamily="18" charset="0"/>
                </a:rPr>
                <a:t> cost multiplier to prioritize their assignment.</a:t>
              </a:r>
              <a:endParaRPr lang="en-US" altLang="zh-CN" sz="1600" dirty="0">
                <a:latin typeface="Cambria" panose="02040503050406030204" pitchFamily="18" charset="0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822761" y="84203"/>
            <a:ext cx="10657522" cy="521970"/>
            <a:chOff x="271557" y="198201"/>
            <a:chExt cx="12343282" cy="521970"/>
          </a:xfrm>
        </p:grpSpPr>
        <p:sp>
          <p:nvSpPr>
            <p:cNvPr id="19" name="文本框 18"/>
            <p:cNvSpPr txBox="1"/>
            <p:nvPr/>
          </p:nvSpPr>
          <p:spPr>
            <a:xfrm>
              <a:off x="271557" y="198201"/>
              <a:ext cx="795748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just">
                <a:buClrTx/>
                <a:buSzTx/>
                <a:buFontTx/>
              </a:pPr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4.2</a:t>
              </a:r>
              <a:endParaRPr lang="en-US" altLang="zh-CN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029429" y="198201"/>
              <a:ext cx="1158541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just">
                <a:buClrTx/>
                <a:buSzTx/>
                <a:buFontTx/>
              </a:pPr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Conflict </a:t>
              </a:r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Resolution </a:t>
              </a:r>
              <a:endParaRPr lang="en-US" altLang="zh-CN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83" name="图片 8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867" y="30650"/>
            <a:ext cx="630327" cy="630327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706346" y="1361025"/>
            <a:ext cx="5268596" cy="2765210"/>
            <a:chOff x="1183183" y="836767"/>
            <a:chExt cx="9822898" cy="1842104"/>
          </a:xfrm>
        </p:grpSpPr>
        <p:sp>
          <p:nvSpPr>
            <p:cNvPr id="2" name="文本框 1"/>
            <p:cNvSpPr txBox="1"/>
            <p:nvPr/>
          </p:nvSpPr>
          <p:spPr>
            <a:xfrm>
              <a:off x="1183183" y="836767"/>
              <a:ext cx="7732112" cy="265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Cambria" panose="02040503050406030204" pitchFamily="18" charset="0"/>
                  <a:sym typeface="+mn-ea"/>
                </a:rPr>
                <a:t>Conflict Resolution Mechanisms</a:t>
              </a:r>
              <a:endParaRPr lang="en-US" altLang="zh-CN" sz="2000" b="1" dirty="0">
                <a:latin typeface="Cambria" panose="02040503050406030204" pitchFamily="18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183183" y="1142043"/>
              <a:ext cx="9822898" cy="15368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Collisions: Ensuring two AGVs do not occupy the same position at the same time.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Swaps: Avoiding two AGVs crossing paths or swapping positions.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Task Misalignment: Ensuring tasks are picked up in the correct sequence/order.</a:t>
              </a:r>
              <a:endParaRPr lang="en-US" altLang="zh-CN" sz="1600" dirty="0">
                <a:latin typeface="Cambria" panose="02040503050406030204" pitchFamily="18" charset="0"/>
              </a:endParaRPr>
            </a:p>
          </p:txBody>
        </p:sp>
      </p:grpSp>
    </p:spTree>
    <p:custDataLst>
      <p:tags r:id="rId2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822761" y="84203"/>
            <a:ext cx="10657522" cy="521970"/>
            <a:chOff x="271557" y="198201"/>
            <a:chExt cx="12343282" cy="521970"/>
          </a:xfrm>
        </p:grpSpPr>
        <p:sp>
          <p:nvSpPr>
            <p:cNvPr id="19" name="文本框 18"/>
            <p:cNvSpPr txBox="1"/>
            <p:nvPr/>
          </p:nvSpPr>
          <p:spPr>
            <a:xfrm>
              <a:off x="271557" y="198201"/>
              <a:ext cx="795748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just">
                <a:buClrTx/>
                <a:buSzTx/>
                <a:buFontTx/>
              </a:pPr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4.3</a:t>
              </a:r>
              <a:endParaRPr lang="en-US" altLang="zh-CN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029429" y="198201"/>
              <a:ext cx="1158541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just">
                <a:buClrTx/>
                <a:buSzTx/>
                <a:buFontTx/>
              </a:pPr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Task Distribution</a:t>
              </a:r>
              <a:endParaRPr lang="en-US" altLang="zh-CN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83" name="图片 8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867" y="30650"/>
            <a:ext cx="630327" cy="630327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706346" y="967325"/>
            <a:ext cx="5268596" cy="1288200"/>
            <a:chOff x="1183183" y="836767"/>
            <a:chExt cx="9822898" cy="858162"/>
          </a:xfrm>
        </p:grpSpPr>
        <p:sp>
          <p:nvSpPr>
            <p:cNvPr id="2" name="文本框 1"/>
            <p:cNvSpPr txBox="1"/>
            <p:nvPr/>
          </p:nvSpPr>
          <p:spPr>
            <a:xfrm>
              <a:off x="1183183" y="836767"/>
              <a:ext cx="7732112" cy="265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Cambria" panose="02040503050406030204" pitchFamily="18" charset="0"/>
                </a:rPr>
                <a:t>Task Distribution by Pickup Point</a:t>
              </a:r>
              <a:endParaRPr lang="en-US" altLang="zh-CN" sz="2000" b="1" dirty="0">
                <a:latin typeface="Cambria" panose="02040503050406030204" pitchFamily="18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183183" y="1142043"/>
              <a:ext cx="9822898" cy="552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Tasks were concentrated at Rabbit (20 tasks) and Horse (20 tasks)</a:t>
              </a:r>
              <a:endParaRPr lang="en-US" altLang="zh-CN" sz="1600" dirty="0">
                <a:latin typeface="Cambria" panose="02040503050406030204" pitchFamily="18" charset="0"/>
              </a:endParaRPr>
            </a:p>
          </p:txBody>
        </p:sp>
      </p:grp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6484846" y="967325"/>
            <a:ext cx="5268596" cy="1288200"/>
            <a:chOff x="1183183" y="836767"/>
            <a:chExt cx="9822898" cy="858162"/>
          </a:xfrm>
        </p:grpSpPr>
        <p:sp>
          <p:nvSpPr>
            <p:cNvPr id="5" name="文本框 4"/>
            <p:cNvSpPr txBox="1"/>
            <p:nvPr>
              <p:custDataLst>
                <p:tags r:id="rId3"/>
              </p:custDataLst>
            </p:nvPr>
          </p:nvSpPr>
          <p:spPr>
            <a:xfrm>
              <a:off x="1183183" y="836767"/>
              <a:ext cx="9460620" cy="265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Cambria" panose="02040503050406030204" pitchFamily="18" charset="0"/>
                </a:rPr>
                <a:t>Task Distribution by Delivery Point</a:t>
              </a:r>
              <a:endParaRPr lang="en-US" altLang="zh-CN" sz="2000" b="1" dirty="0">
                <a:latin typeface="Cambria" panose="02040503050406030204" pitchFamily="18" charset="0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183183" y="1142043"/>
              <a:ext cx="9822898" cy="552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Most popular delivery point: Urumqi (9 tasks).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Least popular delivery point: Nanjing (2 tasks).</a:t>
              </a:r>
              <a:endParaRPr lang="en-US" altLang="zh-CN" sz="1600" dirty="0">
                <a:latin typeface="Cambria" panose="02040503050406030204" pitchFamily="18" charset="0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420" y="2496185"/>
            <a:ext cx="8773160" cy="399034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822760" y="84203"/>
            <a:ext cx="10657523" cy="521970"/>
            <a:chOff x="271556" y="198201"/>
            <a:chExt cx="12343283" cy="521970"/>
          </a:xfrm>
        </p:grpSpPr>
        <p:sp>
          <p:nvSpPr>
            <p:cNvPr id="19" name="文本框 18"/>
            <p:cNvSpPr txBox="1"/>
            <p:nvPr/>
          </p:nvSpPr>
          <p:spPr>
            <a:xfrm>
              <a:off x="271556" y="198201"/>
              <a:ext cx="795748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dist"/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4.4</a:t>
              </a:r>
              <a:endParaRPr lang="zh-CN" altLang="en-US" dirty="0">
                <a:solidFill>
                  <a:srgbClr val="266080"/>
                </a:solidFill>
                <a:latin typeface="036-上首金牛体" panose="02010609000101010101" pitchFamily="49" charset="-122"/>
                <a:ea typeface="036-上首金牛体" panose="02010609000101010101" pitchFamily="49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029429" y="198201"/>
              <a:ext cx="1158541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just">
                <a:buClrTx/>
                <a:buSzTx/>
                <a:buFontTx/>
              </a:pPr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Simulation Results: Duration and AGV Utilization</a:t>
              </a:r>
              <a:endParaRPr lang="en-US" altLang="zh-CN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83" name="图片 8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867" y="30650"/>
            <a:ext cx="630327" cy="630327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572770" y="789305"/>
            <a:ext cx="4991735" cy="1518920"/>
            <a:chOff x="1183183" y="836767"/>
            <a:chExt cx="7732112" cy="1011862"/>
          </a:xfrm>
        </p:grpSpPr>
        <p:sp>
          <p:nvSpPr>
            <p:cNvPr id="2" name="文本框 1"/>
            <p:cNvSpPr txBox="1"/>
            <p:nvPr/>
          </p:nvSpPr>
          <p:spPr>
            <a:xfrm>
              <a:off x="1183183" y="836767"/>
              <a:ext cx="7732112" cy="265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Cambria" panose="02040503050406030204" pitchFamily="18" charset="0"/>
                </a:rPr>
                <a:t>Simulation Overview</a:t>
              </a:r>
              <a:endParaRPr lang="en-US" altLang="zh-CN" sz="2000" b="1" dirty="0">
                <a:latin typeface="Cambria" panose="02040503050406030204" pitchFamily="18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183183" y="1142187"/>
              <a:ext cx="6283007" cy="706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Cambria" panose="02040503050406030204" pitchFamily="18" charset="0"/>
                </a:rPr>
                <a:t>Total simulation time: 243 time steps.</a:t>
              </a:r>
              <a:endParaRPr lang="en-US" altLang="zh-CN" sz="14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Cambria" panose="02040503050406030204" pitchFamily="18" charset="0"/>
                </a:rPr>
                <a:t>Total trajectory records: 2928.</a:t>
              </a:r>
              <a:endParaRPr lang="en-US" altLang="zh-CN" sz="14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Cambria" panose="02040503050406030204" pitchFamily="18" charset="0"/>
                </a:rPr>
                <a:t>Average records per time step: 12.00.</a:t>
              </a:r>
              <a:endParaRPr lang="en-US" altLang="zh-CN" sz="1400" dirty="0">
                <a:latin typeface="Cambria" panose="02040503050406030204" pitchFamily="18" charset="0"/>
              </a:endParaRPr>
            </a:p>
          </p:txBody>
        </p:sp>
      </p:grp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572770" y="2482850"/>
            <a:ext cx="4697095" cy="1842076"/>
            <a:chOff x="1183183" y="836767"/>
            <a:chExt cx="9822898" cy="1226721"/>
          </a:xfrm>
        </p:grpSpPr>
        <p:sp>
          <p:nvSpPr>
            <p:cNvPr id="5" name="文本框 4"/>
            <p:cNvSpPr txBox="1"/>
            <p:nvPr>
              <p:custDataLst>
                <p:tags r:id="rId3"/>
              </p:custDataLst>
            </p:nvPr>
          </p:nvSpPr>
          <p:spPr>
            <a:xfrm>
              <a:off x="1183183" y="836767"/>
              <a:ext cx="9460620" cy="2655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Cambria" panose="02040503050406030204" pitchFamily="18" charset="0"/>
                </a:rPr>
                <a:t>AGV Utilization Analysis</a:t>
              </a:r>
              <a:endParaRPr lang="en-US" altLang="zh-CN" sz="2000" b="1" dirty="0">
                <a:latin typeface="Cambria" panose="02040503050406030204" pitchFamily="18" charset="0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183183" y="1142043"/>
              <a:ext cx="9822898" cy="921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Cambria" panose="02040503050406030204" pitchFamily="18" charset="0"/>
                </a:rPr>
                <a:t>Utilization is calculated as (Time with Cargo / Total Time) * 100%.</a:t>
              </a:r>
              <a:endParaRPr lang="en-US" altLang="zh-CN" sz="14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Cambria" panose="02040503050406030204" pitchFamily="18" charset="0"/>
                </a:rPr>
                <a:t>Highest Utilization: Megatron (60.25%).</a:t>
              </a:r>
              <a:endParaRPr lang="en-US" altLang="zh-CN" sz="14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Cambria" panose="02040503050406030204" pitchFamily="18" charset="0"/>
                </a:rPr>
                <a:t>Lowest Utilization: Jazz (49.59%).</a:t>
              </a:r>
              <a:endParaRPr lang="en-US" altLang="zh-CN" sz="1400" dirty="0">
                <a:latin typeface="Cambria" panose="02040503050406030204" pitchFamily="18" charset="0"/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572770" y="4509770"/>
            <a:ext cx="5142230" cy="1841999"/>
            <a:chOff x="1183183" y="836767"/>
            <a:chExt cx="9822898" cy="1226872"/>
          </a:xfrm>
        </p:grpSpPr>
        <p:sp>
          <p:nvSpPr>
            <p:cNvPr id="8" name="文本框 7"/>
            <p:cNvSpPr txBox="1"/>
            <p:nvPr>
              <p:custDataLst>
                <p:tags r:id="rId5"/>
              </p:custDataLst>
            </p:nvPr>
          </p:nvSpPr>
          <p:spPr>
            <a:xfrm>
              <a:off x="1183183" y="836767"/>
              <a:ext cx="9460620" cy="265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Cambria" panose="02040503050406030204" pitchFamily="18" charset="0"/>
                </a:rPr>
                <a:t>Task Duration Analysis</a:t>
              </a:r>
              <a:endParaRPr lang="en-US" altLang="zh-CN" sz="2000" b="1" dirty="0">
                <a:latin typeface="Cambria" panose="02040503050406030204" pitchFamily="18" charset="0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183183" y="1142043"/>
              <a:ext cx="9822898" cy="921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Cambria" panose="02040503050406030204" pitchFamily="18" charset="0"/>
                </a:rPr>
                <a:t>Total 100 tasks were analyzed for completion duration.</a:t>
              </a:r>
              <a:endParaRPr lang="en-US" altLang="zh-CN" sz="14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Cambria" panose="02040503050406030204" pitchFamily="18" charset="0"/>
                </a:rPr>
                <a:t>Average task duration: 14.87 time steps.</a:t>
              </a:r>
              <a:endParaRPr lang="en-US" altLang="zh-CN" sz="14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latin typeface="Cambria" panose="02040503050406030204" pitchFamily="18" charset="0"/>
                </a:rPr>
                <a:t>Task durations ranged from 6 (shortest) to 25 (longest) time steps, with a median of 16.00.</a:t>
              </a:r>
              <a:endParaRPr lang="en-US" altLang="zh-CN" sz="1400" dirty="0">
                <a:latin typeface="Cambria" panose="02040503050406030204" pitchFamily="18" charset="0"/>
              </a:endParaRPr>
            </a:p>
          </p:txBody>
        </p: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9515" y="739140"/>
            <a:ext cx="5156200" cy="29089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9515" y="3780790"/>
            <a:ext cx="5187950" cy="294830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822761" y="84203"/>
            <a:ext cx="10657522" cy="521970"/>
            <a:chOff x="271557" y="198201"/>
            <a:chExt cx="12343282" cy="521970"/>
          </a:xfrm>
        </p:grpSpPr>
        <p:sp>
          <p:nvSpPr>
            <p:cNvPr id="19" name="文本框 18"/>
            <p:cNvSpPr txBox="1"/>
            <p:nvPr/>
          </p:nvSpPr>
          <p:spPr>
            <a:xfrm>
              <a:off x="271557" y="198201"/>
              <a:ext cx="795748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just">
                <a:buClrTx/>
                <a:buSzTx/>
                <a:buFontTx/>
              </a:pPr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4.5</a:t>
              </a:r>
              <a:endParaRPr lang="en-US" altLang="zh-CN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029429" y="198201"/>
              <a:ext cx="1158541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80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algn="just">
                <a:buClrTx/>
                <a:buSzTx/>
                <a:buFontTx/>
              </a:pPr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Visualization </a:t>
              </a:r>
              <a:r>
                <a:rPr lang="en-US" altLang="zh-CN" b="1" dirty="0">
                  <a:solidFill>
                    <a:srgbClr val="266080"/>
                  </a:solidFill>
                  <a:latin typeface="Cambria" panose="02040503050406030204" pitchFamily="18" charset="0"/>
                  <a:ea typeface="宋体" panose="02010600030101010101" pitchFamily="2" charset="-122"/>
                </a:rPr>
                <a:t>of AGV Trajectories</a:t>
              </a:r>
              <a:endParaRPr lang="en-US" altLang="zh-CN" b="1" dirty="0">
                <a:solidFill>
                  <a:srgbClr val="266080"/>
                </a:solidFill>
                <a:latin typeface="Cambria" panose="020405030504060302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83" name="图片 8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867" y="30650"/>
            <a:ext cx="630327" cy="630327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668246" y="1676620"/>
            <a:ext cx="4760595" cy="3504566"/>
            <a:chOff x="1183183" y="836767"/>
            <a:chExt cx="8875769" cy="2334642"/>
          </a:xfrm>
        </p:grpSpPr>
        <p:sp>
          <p:nvSpPr>
            <p:cNvPr id="2" name="文本框 1"/>
            <p:cNvSpPr txBox="1"/>
            <p:nvPr/>
          </p:nvSpPr>
          <p:spPr>
            <a:xfrm>
              <a:off x="1183183" y="836767"/>
              <a:ext cx="7732112" cy="4708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Cambria" panose="02040503050406030204" pitchFamily="18" charset="0"/>
                </a:rPr>
                <a:t>Real-time Visualization System</a:t>
              </a:r>
              <a:endParaRPr lang="en-US" altLang="zh-CN" sz="2000" b="1" dirty="0">
                <a:latin typeface="Cambria" panose="02040503050406030204" pitchFamily="18" charset="0"/>
              </a:endParaRPr>
            </a:p>
            <a:p>
              <a:endParaRPr lang="en-US" altLang="zh-CN" sz="2000" b="1" dirty="0">
                <a:latin typeface="Cambria" panose="02040503050406030204" pitchFamily="18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183183" y="1142187"/>
              <a:ext cx="8875769" cy="20292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Tool Used: Developed using the Pygame library.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Purpose: Provides real-time visualization of AGV movement trajectories and task execution.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285750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Visual Elements: The video visualization shows: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742950" lvl="1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AGV paths and direction.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742950" lvl="1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Cargo states: Pink for normal tasks and red for urgent tasks.</a:t>
              </a:r>
              <a:endParaRPr lang="en-US" altLang="zh-CN" sz="1600" dirty="0">
                <a:latin typeface="Cambria" panose="02040503050406030204" pitchFamily="18" charset="0"/>
              </a:endParaRPr>
            </a:p>
            <a:p>
              <a:pPr marL="742950" lvl="1" indent="-285750">
                <a:lnSpc>
                  <a:spcPct val="150000"/>
                </a:lnSpc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r>
                <a:rPr lang="en-US" altLang="zh-CN" sz="1600" dirty="0">
                  <a:latin typeface="Cambria" panose="02040503050406030204" pitchFamily="18" charset="0"/>
                </a:rPr>
                <a:t>Timestamp information.</a:t>
              </a:r>
              <a:endParaRPr lang="en-US" altLang="zh-CN" sz="1600" dirty="0">
                <a:latin typeface="Cambria" panose="02040503050406030204" pitchFamily="18" charset="0"/>
              </a:endParaRPr>
            </a:p>
          </p:txBody>
        </p:sp>
      </p:grpSp>
      <p:pic>
        <p:nvPicPr>
          <p:cNvPr id="3" name="agv_simulation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292850" y="927100"/>
            <a:ext cx="5080000" cy="50800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spd="slow"/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15568" y="548640"/>
            <a:ext cx="10168128" cy="1179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zh-CN" sz="4000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5.3 </a:t>
            </a:r>
            <a:r>
              <a:rPr lang="en-US" altLang="zh-CN" sz="4000" b="1" dirty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rPr>
              <a:t>Reflection on Learning</a:t>
            </a:r>
            <a:endParaRPr lang="en-US" altLang="zh-CN" sz="4000" dirty="0">
              <a:solidFill>
                <a:schemeClr val="accent2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Rectangle 2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图片 7" descr="图示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0" r="1558" b="2"/>
          <a:stretch>
            <a:fillRect/>
          </a:stretch>
        </p:blipFill>
        <p:spPr>
          <a:xfrm>
            <a:off x="498834" y="2245686"/>
            <a:ext cx="2789451" cy="171463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693763" y="2011680"/>
            <a:ext cx="4999403" cy="4160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indent="-228600">
              <a:lnSpc>
                <a:spcPct val="16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5600" b="1" dirty="0"/>
              <a:t>Key Learning &amp; Practical Gains</a:t>
            </a:r>
            <a:endParaRPr lang="en-US" altLang="zh-CN" sz="5600" b="1" dirty="0"/>
          </a:p>
          <a:p>
            <a:pPr marL="342900" indent="-228600">
              <a:lnSpc>
                <a:spcPct val="16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5600" b="1" dirty="0"/>
              <a:t>Algorithm Implementation</a:t>
            </a:r>
            <a:r>
              <a:rPr lang="zh-CN" altLang="en-US" sz="5600" dirty="0"/>
              <a:t>：</a:t>
            </a:r>
            <a:r>
              <a:rPr lang="en-US" altLang="zh-CN" sz="5600" dirty="0"/>
              <a:t>Adapt A* algorithm for multi-agent scenarios with temporal constraints</a:t>
            </a:r>
            <a:endParaRPr lang="en-US" altLang="zh-CN" sz="5600" dirty="0"/>
          </a:p>
          <a:p>
            <a:pPr marL="342900" indent="-228600">
              <a:lnSpc>
                <a:spcPct val="16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5600" b="1" dirty="0"/>
              <a:t>Data Engineering</a:t>
            </a:r>
            <a:r>
              <a:rPr lang="zh-CN" altLang="en-US" sz="5600" dirty="0"/>
              <a:t>：</a:t>
            </a:r>
            <a:r>
              <a:rPr lang="en-US" altLang="zh-CN" sz="5600" dirty="0"/>
              <a:t>Process and manage spatial-temporal data for simulation systems</a:t>
            </a:r>
            <a:endParaRPr lang="en-US" altLang="zh-CN" sz="5600" dirty="0"/>
          </a:p>
          <a:p>
            <a:pPr marL="342900" indent="-228600">
              <a:lnSpc>
                <a:spcPct val="16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5600" b="1" dirty="0"/>
              <a:t>Problem Decomposition</a:t>
            </a:r>
            <a:r>
              <a:rPr lang="zh-CN" altLang="en-US" sz="5600" dirty="0"/>
              <a:t>：</a:t>
            </a:r>
            <a:r>
              <a:rPr lang="en-US" altLang="zh-CN" sz="5600" dirty="0"/>
              <a:t>Break down complex coordination problems into manageable modules</a:t>
            </a:r>
            <a:endParaRPr lang="en-US" altLang="zh-CN" sz="5600" dirty="0"/>
          </a:p>
          <a:p>
            <a:pPr marL="342900" indent="-228600">
              <a:lnSpc>
                <a:spcPct val="16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5600" b="1" dirty="0"/>
              <a:t>Visualization Design</a:t>
            </a:r>
            <a:r>
              <a:rPr lang="zh-CN" altLang="en-US" sz="5600" dirty="0"/>
              <a:t>：</a:t>
            </a:r>
            <a:r>
              <a:rPr lang="en-US" altLang="zh-CN" sz="5600" dirty="0"/>
              <a:t>Create effective visualizations to present system behavior</a:t>
            </a:r>
            <a:endParaRPr lang="en-US" altLang="zh-CN" sz="5600" dirty="0"/>
          </a:p>
          <a:p>
            <a:pPr marL="342900" indent="-228600">
              <a:lnSpc>
                <a:spcPct val="16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5600" b="1" dirty="0"/>
              <a:t>Programming Best Practices</a:t>
            </a:r>
            <a:r>
              <a:rPr lang="zh-CN" altLang="en-US" sz="5600" dirty="0"/>
              <a:t>：</a:t>
            </a:r>
            <a:r>
              <a:rPr lang="en-US" altLang="zh-CN" sz="5600" dirty="0"/>
              <a:t>Write modular, maintainable code with proper data structures</a:t>
            </a:r>
            <a:endParaRPr lang="en-US" altLang="zh-CN" sz="56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1500" dirty="0"/>
          </a:p>
        </p:txBody>
      </p:sp>
      <p:pic>
        <p:nvPicPr>
          <p:cNvPr id="10" name="图片 9" descr="白色的游戏机&#10;&#10;AI 生成的内容可能不正确。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627" y="2245687"/>
            <a:ext cx="2627522" cy="1714637"/>
          </a:xfrm>
          <a:prstGeom prst="rect">
            <a:avLst/>
          </a:prstGeom>
        </p:spPr>
      </p:pic>
      <p:pic>
        <p:nvPicPr>
          <p:cNvPr id="14" name="图片 13" descr="图示&#10;&#10;AI 生成的内容可能不正确。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610" y="4378934"/>
            <a:ext cx="2873675" cy="1836432"/>
          </a:xfrm>
          <a:prstGeom prst="rect">
            <a:avLst/>
          </a:prstGeom>
        </p:spPr>
      </p:pic>
      <p:pic>
        <p:nvPicPr>
          <p:cNvPr id="18" name="图片 17" descr="图示&#10;&#10;AI 生成的内容可能不正确。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627" y="4378934"/>
            <a:ext cx="2627522" cy="18364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示, 工程绘图&#10;&#10;AI 生成的内容可能不正确。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122" y="609600"/>
            <a:ext cx="3476625" cy="2057400"/>
          </a:xfrm>
          <a:prstGeom prst="rect">
            <a:avLst/>
          </a:prstGeom>
        </p:spPr>
      </p:pic>
      <p:graphicFrame>
        <p:nvGraphicFramePr>
          <p:cNvPr id="10" name="文本框 1"/>
          <p:cNvGraphicFramePr/>
          <p:nvPr/>
        </p:nvGraphicFramePr>
        <p:xfrm>
          <a:off x="0" y="97654"/>
          <a:ext cx="8373122" cy="6760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图片 10" descr="图示, 工程绘图&#10;&#10;AI 生成的内容可能不正确。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122" y="3907512"/>
            <a:ext cx="3657600" cy="2057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/>
          <p:nvPr/>
        </p:nvSpPr>
        <p:spPr>
          <a:xfrm>
            <a:off x="5807669" y="1591014"/>
            <a:ext cx="6221573" cy="5152571"/>
          </a:xfrm>
          <a:custGeom>
            <a:avLst/>
            <a:gdLst>
              <a:gd name="connsiteX0" fmla="*/ 3424000 w 5491461"/>
              <a:gd name="connsiteY0" fmla="*/ 0 h 4554300"/>
              <a:gd name="connsiteX1" fmla="*/ 5338391 w 5491461"/>
              <a:gd name="connsiteY1" fmla="*/ 584766 h 4554300"/>
              <a:gd name="connsiteX2" fmla="*/ 5491461 w 5491461"/>
              <a:gd name="connsiteY2" fmla="*/ 699229 h 4554300"/>
              <a:gd name="connsiteX3" fmla="*/ 5491461 w 5491461"/>
              <a:gd name="connsiteY3" fmla="*/ 1359096 h 4554300"/>
              <a:gd name="connsiteX4" fmla="*/ 5490244 w 5491461"/>
              <a:gd name="connsiteY4" fmla="*/ 1357756 h 4554300"/>
              <a:gd name="connsiteX5" fmla="*/ 3424000 w 5491461"/>
              <a:gd name="connsiteY5" fmla="*/ 501890 h 4554300"/>
              <a:gd name="connsiteX6" fmla="*/ 501890 w 5491461"/>
              <a:gd name="connsiteY6" fmla="*/ 3424000 h 4554300"/>
              <a:gd name="connsiteX7" fmla="*/ 633262 w 5491461"/>
              <a:gd name="connsiteY7" fmla="*/ 4292947 h 4554300"/>
              <a:gd name="connsiteX8" fmla="*/ 728919 w 5491461"/>
              <a:gd name="connsiteY8" fmla="*/ 4554300 h 4554300"/>
              <a:gd name="connsiteX9" fmla="*/ 194968 w 5491461"/>
              <a:gd name="connsiteY9" fmla="*/ 4554300 h 4554300"/>
              <a:gd name="connsiteX10" fmla="*/ 153937 w 5491461"/>
              <a:gd name="connsiteY10" fmla="*/ 4442193 h 4554300"/>
              <a:gd name="connsiteX11" fmla="*/ 0 w 5491461"/>
              <a:gd name="connsiteY11" fmla="*/ 3424000 h 4554300"/>
              <a:gd name="connsiteX12" fmla="*/ 3424000 w 5491461"/>
              <a:gd name="connsiteY12" fmla="*/ 0 h 455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91461" h="4554300">
                <a:moveTo>
                  <a:pt x="3424000" y="0"/>
                </a:moveTo>
                <a:cubicBezTo>
                  <a:pt x="4133134" y="0"/>
                  <a:pt x="4791917" y="215575"/>
                  <a:pt x="5338391" y="584766"/>
                </a:cubicBezTo>
                <a:lnTo>
                  <a:pt x="5491461" y="699229"/>
                </a:lnTo>
                <a:lnTo>
                  <a:pt x="5491461" y="1359096"/>
                </a:lnTo>
                <a:lnTo>
                  <a:pt x="5490244" y="1357756"/>
                </a:lnTo>
                <a:cubicBezTo>
                  <a:pt x="4961446" y="828958"/>
                  <a:pt x="4230918" y="501890"/>
                  <a:pt x="3424000" y="501890"/>
                </a:cubicBezTo>
                <a:cubicBezTo>
                  <a:pt x="1810163" y="501890"/>
                  <a:pt x="501890" y="1810163"/>
                  <a:pt x="501890" y="3424000"/>
                </a:cubicBezTo>
                <a:cubicBezTo>
                  <a:pt x="501890" y="3726595"/>
                  <a:pt x="547884" y="4018447"/>
                  <a:pt x="633262" y="4292947"/>
                </a:cubicBezTo>
                <a:lnTo>
                  <a:pt x="728919" y="4554300"/>
                </a:lnTo>
                <a:lnTo>
                  <a:pt x="194968" y="4554300"/>
                </a:lnTo>
                <a:lnTo>
                  <a:pt x="153937" y="4442193"/>
                </a:lnTo>
                <a:cubicBezTo>
                  <a:pt x="53894" y="4120546"/>
                  <a:pt x="0" y="3778567"/>
                  <a:pt x="0" y="3424000"/>
                </a:cubicBezTo>
                <a:cubicBezTo>
                  <a:pt x="0" y="1532977"/>
                  <a:pt x="1532977" y="0"/>
                  <a:pt x="3424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BA3C5">
                  <a:tint val="66000"/>
                  <a:satMod val="160000"/>
                </a:srgbClr>
              </a:gs>
              <a:gs pos="50000">
                <a:srgbClr val="5BA3C5">
                  <a:tint val="44500"/>
                  <a:satMod val="160000"/>
                </a:srgbClr>
              </a:gs>
              <a:gs pos="100000">
                <a:srgbClr val="5BA3C5">
                  <a:tint val="23500"/>
                  <a:satMod val="160000"/>
                </a:srgbClr>
              </a:gs>
            </a:gsLst>
            <a:lin ang="18900000" scaled="1"/>
            <a:tileRect/>
          </a:gradFill>
          <a:ln>
            <a:noFill/>
          </a:ln>
          <a:effectLst>
            <a:outerShdw blurRad="419100" dist="228600" dir="15540000" algn="br" rotWithShape="0">
              <a:schemeClr val="accent1">
                <a:lumMod val="50000"/>
                <a:alpha val="1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6965" y="0"/>
            <a:ext cx="1158227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chemeClr val="accent2">
                    <a:lumMod val="50000"/>
                  </a:schemeClr>
                </a:solidFill>
              </a:rPr>
              <a:t>06</a:t>
            </a:r>
            <a:r>
              <a:rPr lang="zh-CN" altLang="en-US" sz="2800" b="1" dirty="0">
                <a:solidFill>
                  <a:schemeClr val="accent2">
                    <a:lumMod val="50000"/>
                  </a:schemeClr>
                </a:solidFill>
              </a:rPr>
              <a:t>：</a:t>
            </a:r>
            <a:r>
              <a:rPr lang="en-US" altLang="zh-CN" sz="2800" b="1" dirty="0">
                <a:solidFill>
                  <a:schemeClr val="accent2">
                    <a:lumMod val="50000"/>
                  </a:schemeClr>
                </a:solidFill>
              </a:rPr>
              <a:t>References</a:t>
            </a:r>
            <a:endParaRPr lang="en-US" altLang="zh-CN" sz="28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Hart, P. E., et al. (1968). </a:t>
            </a:r>
            <a:r>
              <a:rPr lang="en-US" altLang="zh-CN" i="1" dirty="0"/>
              <a:t>A formal basis for the heuristic determination of minimum cost paths</a:t>
            </a:r>
            <a:r>
              <a:rPr lang="en-US" altLang="zh-CN" dirty="0"/>
              <a:t>. </a:t>
            </a:r>
            <a:r>
              <a:rPr lang="en-US" altLang="zh-CN" i="1" dirty="0"/>
              <a:t>IEEE transactions on Systems Science and Cybernetics</a:t>
            </a:r>
            <a:r>
              <a:rPr lang="en-US" altLang="zh-CN" dirty="0"/>
              <a:t>, 4(2), 100-107.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Stern, R., et al. (2019). </a:t>
            </a:r>
            <a:r>
              <a:rPr lang="en-US" altLang="zh-CN" i="1" dirty="0"/>
              <a:t>Multi-Agent Pathfinding: Definitions, Variants, and Benchmarks</a:t>
            </a:r>
            <a:r>
              <a:rPr lang="en-US" altLang="zh-CN" dirty="0"/>
              <a:t>. </a:t>
            </a:r>
            <a:r>
              <a:rPr lang="en-US" altLang="zh-CN" i="1" dirty="0"/>
              <a:t>Proceedings of the International Symposium on Combinatorial Search</a:t>
            </a:r>
            <a:r>
              <a:rPr lang="en-US" altLang="zh-CN" dirty="0"/>
              <a:t>, 10(1), 151-158.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Python Software Foundation. (2023). </a:t>
            </a:r>
            <a:r>
              <a:rPr lang="en-US" altLang="zh-CN" i="1" dirty="0"/>
              <a:t>Python 3 Documentation</a:t>
            </a:r>
            <a:r>
              <a:rPr lang="en-US" altLang="zh-CN" dirty="0"/>
              <a:t>. </a:t>
            </a:r>
            <a:r>
              <a:rPr lang="en-US" altLang="zh-CN" dirty="0">
                <a:hlinkClick r:id="rId1"/>
              </a:rPr>
              <a:t>https://docs.python.org/3/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Pandas Development Team. (2023). </a:t>
            </a:r>
            <a:r>
              <a:rPr lang="en-US" altLang="zh-CN" i="1" dirty="0"/>
              <a:t>pandas: powerful Python data analysis toolkit</a:t>
            </a:r>
            <a:r>
              <a:rPr lang="en-US" altLang="zh-CN" dirty="0"/>
              <a:t>. </a:t>
            </a:r>
            <a:r>
              <a:rPr lang="en-US" altLang="zh-CN" dirty="0">
                <a:hlinkClick r:id="rId2"/>
              </a:rPr>
              <a:t>https://pandas.pydata.org/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Matplotlib Development Team. (2023). </a:t>
            </a:r>
            <a:r>
              <a:rPr lang="en-US" altLang="zh-CN" i="1" dirty="0"/>
              <a:t>Matplotlib: Visualization with Python</a:t>
            </a:r>
            <a:r>
              <a:rPr lang="en-US" altLang="zh-CN" dirty="0"/>
              <a:t>. </a:t>
            </a:r>
            <a:r>
              <a:rPr lang="en-US" altLang="zh-CN" dirty="0">
                <a:hlinkClick r:id="rId3"/>
              </a:rPr>
              <a:t>https://matplotlib.org/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矩形 3"/>
          <p:cNvSpPr/>
          <p:nvPr/>
        </p:nvSpPr>
        <p:spPr>
          <a:xfrm>
            <a:off x="1670670" y="1849781"/>
            <a:ext cx="8606603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72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 F</a:t>
            </a:r>
            <a:r>
              <a:rPr lang="en-US" altLang="zh-CN" sz="7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or Watching</a:t>
            </a:r>
            <a:endParaRPr lang="zh-CN" altLang="en-US" sz="72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DIAGRAM_VIRTUALLY_FRAME" val="{&quot;height&quot;:437.47464566929136,&quot;left&quot;:356.75732283464566,&quot;top&quot;:56.904960629921256,&quot;width&quot;:606.3970078740156}"/>
</p:tagLst>
</file>

<file path=ppt/tags/tag67.xml><?xml version="1.0" encoding="utf-8"?>
<p:tagLst xmlns:p="http://schemas.openxmlformats.org/presentationml/2006/main">
  <p:tag name="KSO_WM_DIAGRAM_VIRTUALLY_FRAME" val="{&quot;height&quot;:437.47464566929136,&quot;left&quot;:356.75732283464566,&quot;top&quot;:56.904960629921256,&quot;width&quot;:606.3970078740156}"/>
</p:tagLst>
</file>

<file path=ppt/tags/tag68.xml><?xml version="1.0" encoding="utf-8"?>
<p:tagLst xmlns:p="http://schemas.openxmlformats.org/presentationml/2006/main">
  <p:tag name="KSO_WM_DIAGRAM_VIRTUALLY_FRAME" val="{&quot;height&quot;:437.47464566929136,&quot;left&quot;:356.75732283464566,&quot;top&quot;:56.904960629921256,&quot;width&quot;:606.3970078740156}"/>
</p:tagLst>
</file>

<file path=ppt/tags/tag69.xml><?xml version="1.0" encoding="utf-8"?>
<p:tagLst xmlns:p="http://schemas.openxmlformats.org/presentationml/2006/main">
  <p:tag name="KSO_WM_DIAGRAM_VIRTUALLY_FRAME" val="{&quot;height&quot;:437.47464566929136,&quot;left&quot;:356.75732283464566,&quot;top&quot;:56.904960629921256,&quot;width&quot;:606.3970078740156}"/>
</p:tagLst>
</file>

<file path=ppt/tags/tag70.xml><?xml version="1.0" encoding="utf-8"?>
<p:tagLst xmlns:p="http://schemas.openxmlformats.org/presentationml/2006/main">
  <p:tag name="KSO_WM_DIAGRAM_VIRTUALLY_FRAME" val="{&quot;height&quot;:437.47464566929136,&quot;left&quot;:356.75732283464566,&quot;top&quot;:56.904960629921256,&quot;width&quot;:606.3970078740156}"/>
</p:tagLst>
</file>

<file path=ppt/tags/tag71.xml><?xml version="1.0" encoding="utf-8"?>
<p:tagLst xmlns:p="http://schemas.openxmlformats.org/presentationml/2006/main">
  <p:tag name="KSO_WM_DIAGRAM_VIRTUALLY_FRAME" val="{&quot;height&quot;:437.47464566929136,&quot;left&quot;:356.75732283464566,&quot;top&quot;:56.904960629921256,&quot;width&quot;:606.3970078740156}"/>
</p:tagLst>
</file>

<file path=ppt/tags/tag72.xml><?xml version="1.0" encoding="utf-8"?>
<p:tagLst xmlns:p="http://schemas.openxmlformats.org/presentationml/2006/main">
  <p:tag name="KSO_WM_DIAGRAM_VIRTUALLY_FRAME" val="{&quot;height&quot;:437.47464566929136,&quot;left&quot;:356.75732283464566,&quot;top&quot;:56.904960629921256,&quot;width&quot;:606.3970078740156}"/>
</p:tagLst>
</file>

<file path=ppt/tags/tag73.xml><?xml version="1.0" encoding="utf-8"?>
<p:tagLst xmlns:p="http://schemas.openxmlformats.org/presentationml/2006/main">
  <p:tag name="KSO_WM_DIAGRAM_VIRTUALLY_FRAME" val="{&quot;height&quot;:437.47464566929136,&quot;left&quot;:356.75732283464566,&quot;top&quot;:56.904960629921256,&quot;width&quot;:606.3970078740156}"/>
</p:tagLst>
</file>

<file path=ppt/tags/tag74.xml><?xml version="1.0" encoding="utf-8"?>
<p:tagLst xmlns:p="http://schemas.openxmlformats.org/presentationml/2006/main">
  <p:tag name="KSO_WM_DIAGRAM_VIRTUALLY_FRAME" val="{&quot;height&quot;:437.47464566929136,&quot;left&quot;:356.75732283464566,&quot;top&quot;:56.904960629921256,&quot;width&quot;:606.3970078740156}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1.xml><?xml version="1.0" encoding="utf-8"?>
<p:tagLst xmlns:p="http://schemas.openxmlformats.org/presentationml/2006/main">
  <p:tag name="KSO_WM_DIAGRAM_VIRTUALLY_FRAME" val="{&quot;height&quot;:224.23307086614173,&quot;left&quot;:55.61779527559056,&quot;top&quot;:107.16732283464566,&quot;width&quot;:869.8500787401575}"/>
</p:tagLst>
</file>

<file path=ppt/tags/tag92.xml><?xml version="1.0" encoding="utf-8"?>
<p:tagLst xmlns:p="http://schemas.openxmlformats.org/presentationml/2006/main">
  <p:tag name="KSO_WM_DIAGRAM_VIRTUALLY_FRAME" val="{&quot;height&quot;:224.23307086614173,&quot;left&quot;:55.61779527559056,&quot;top&quot;:107.16732283464566,&quot;width&quot;:869.8500787401575}"/>
</p:tagLst>
</file>

<file path=ppt/tags/tag9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4.xml><?xml version="1.0" encoding="utf-8"?>
<p:tagLst xmlns:p="http://schemas.openxmlformats.org/presentationml/2006/main">
  <p:tag name="KSO_WM_DIAGRAM_VIRTUALLY_FRAME" val="{&quot;height&quot;:224.23307086614173,&quot;left&quot;:55.61779527559056,&quot;top&quot;:107.16732283464566,&quot;width&quot;:869.8500787401575}"/>
</p:tagLst>
</file>

<file path=ppt/tags/tag95.xml><?xml version="1.0" encoding="utf-8"?>
<p:tagLst xmlns:p="http://schemas.openxmlformats.org/presentationml/2006/main">
  <p:tag name="KSO_WM_DIAGRAM_VIRTUALLY_FRAME" val="{&quot;height&quot;:224.23307086614173,&quot;left&quot;:55.61779527559056,&quot;top&quot;:107.16732283464566,&quot;width&quot;:869.8500787401575}"/>
</p:tagLst>
</file>

<file path=ppt/tags/tag96.xml><?xml version="1.0" encoding="utf-8"?>
<p:tagLst xmlns:p="http://schemas.openxmlformats.org/presentationml/2006/main">
  <p:tag name="KSO_WM_DIAGRAM_VIRTUALLY_FRAME" val="{&quot;height&quot;:224.23307086614173,&quot;left&quot;:55.61779527559056,&quot;top&quot;:107.16732283464566,&quot;width&quot;:869.8500787401575}"/>
</p:tagLst>
</file>

<file path=ppt/tags/tag97.xml><?xml version="1.0" encoding="utf-8"?>
<p:tagLst xmlns:p="http://schemas.openxmlformats.org/presentationml/2006/main">
  <p:tag name="KSO_WM_DIAGRAM_VIRTUALLY_FRAME" val="{&quot;height&quot;:224.23307086614173,&quot;left&quot;:55.61779527559056,&quot;top&quot;:107.16732283464566,&quot;width&quot;:869.8500787401575}"/>
</p:tagLst>
</file>

<file path=ppt/tags/tag9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9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10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16912</Words>
  <Application>WPS 演示</Application>
  <PresentationFormat>宽屏</PresentationFormat>
  <Paragraphs>454</Paragraphs>
  <Slides>27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1" baseType="lpstr">
      <vt:lpstr>Arial</vt:lpstr>
      <vt:lpstr>宋体</vt:lpstr>
      <vt:lpstr>Wingdings</vt:lpstr>
      <vt:lpstr>Wingdings</vt:lpstr>
      <vt:lpstr>036-上首金牛体</vt:lpstr>
      <vt:lpstr>Cambria</vt:lpstr>
      <vt:lpstr>思源宋体 CN Heavy</vt:lpstr>
      <vt:lpstr>微软雅黑</vt:lpstr>
      <vt:lpstr>Arial Unicode MS</vt:lpstr>
      <vt:lpstr>Calibri</vt:lpstr>
      <vt:lpstr>Calibri</vt:lpstr>
      <vt:lpstr>Consolas</vt:lpstr>
      <vt:lpstr>Inter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℡曾凯博⁶₆6</cp:lastModifiedBy>
  <cp:revision>171</cp:revision>
  <dcterms:created xsi:type="dcterms:W3CDTF">2019-06-19T02:08:00Z</dcterms:created>
  <dcterms:modified xsi:type="dcterms:W3CDTF">2025-12-12T13:35:19Z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1901563B382E4622AF854BF4E5C509BE_13</vt:lpwstr>
  </property>
</Properties>
</file>